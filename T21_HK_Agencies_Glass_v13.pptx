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handoutMasterIdLst>
    <p:handoutMasterId r:id="rId13"/>
  </p:handoutMasterIdLst>
  <p:sldIdLst>
    <p:sldId id="265" r:id="rId2"/>
    <p:sldId id="278" r:id="rId3"/>
    <p:sldId id="262" r:id="rId4"/>
    <p:sldId id="285" r:id="rId5"/>
    <p:sldId id="267" r:id="rId6"/>
    <p:sldId id="276" r:id="rId7"/>
  </p:sldIdLst>
  <p:sldSz cx="7559675" cy="10439400"/>
  <p:notesSz cx="7315200" cy="96012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381" userDrawn="1">
          <p15:clr>
            <a:srgbClr val="A4A3A4"/>
          </p15:clr>
        </p15:guide>
        <p15:guide id="5" orient="horz" pos="703" userDrawn="1">
          <p15:clr>
            <a:srgbClr val="A4A3A4"/>
          </p15:clr>
        </p15:guide>
        <p15:guide id="6" orient="horz" pos="997" userDrawn="1">
          <p15:clr>
            <a:srgbClr val="A4A3A4"/>
          </p15:clr>
        </p15:guide>
        <p15:guide id="7" orient="horz" pos="612" userDrawn="1">
          <p15:clr>
            <a:srgbClr val="A4A3A4"/>
          </p15:clr>
        </p15:guide>
        <p15:guide id="8" pos="29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5" userDrawn="1">
          <p15:clr>
            <a:srgbClr val="A4A3A4"/>
          </p15:clr>
        </p15:guide>
        <p15:guide id="2" pos="2305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ECMA" initials="R" lastIdx="1" clrIdx="0">
    <p:extLst>
      <p:ext uri="{19B8F6BF-5375-455C-9EA6-DF929625EA0E}">
        <p15:presenceInfo xmlns:p15="http://schemas.microsoft.com/office/powerpoint/2012/main" userId="RECM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7AE"/>
    <a:srgbClr val="7FA89E"/>
    <a:srgbClr val="CC99FF"/>
    <a:srgbClr val="FFEADD"/>
    <a:srgbClr val="FFE699"/>
    <a:srgbClr val="E2F0D9"/>
    <a:srgbClr val="FFE4FF"/>
    <a:srgbClr val="A8C3BC"/>
    <a:srgbClr val="3A5E52"/>
    <a:srgbClr val="EDF2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AB62E3-0DA6-4825-BAC5-C36D42B44480}" v="67" dt="2026-04-20T08:53:23.6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71" d="100"/>
          <a:sy n="71" d="100"/>
        </p:scale>
        <p:origin x="2172" y="84"/>
      </p:cViewPr>
      <p:guideLst>
        <p:guide pos="2381"/>
        <p:guide orient="horz" pos="703"/>
        <p:guide orient="horz" pos="997"/>
        <p:guide orient="horz" pos="612"/>
        <p:guide pos="2903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3907"/>
    </p:cViewPr>
  </p:sorterViewPr>
  <p:notesViewPr>
    <p:cSldViewPr snapToGrid="0">
      <p:cViewPr varScale="1">
        <p:scale>
          <a:sx n="89" d="100"/>
          <a:sy n="89" d="100"/>
        </p:scale>
        <p:origin x="4496" y="176"/>
      </p:cViewPr>
      <p:guideLst>
        <p:guide orient="horz" pos="3025"/>
        <p:guide pos="230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commentAuthors" Target="commentAuthors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5/10/relationships/revisionInfo" Target="revisionInfo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166308349608038E-2"/>
          <c:y val="2.8769546868310229E-2"/>
          <c:w val="0.89559844419280188"/>
          <c:h val="0.84544750237292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OAV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BE5D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DDDE-AB49-99A4-E3B7419E151D}"/>
              </c:ext>
            </c:extLst>
          </c:dPt>
          <c:dPt>
            <c:idx val="1"/>
            <c:invertIfNegative val="0"/>
            <c:bubble3D val="0"/>
            <c:spPr>
              <a:solidFill>
                <a:srgbClr val="FFE6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DDDE-AB49-99A4-E3B7419E151D}"/>
              </c:ext>
            </c:extLst>
          </c:dPt>
          <c:dPt>
            <c:idx val="2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DDE-AB49-99A4-E3B7419E151D}"/>
              </c:ext>
            </c:extLst>
          </c:dPt>
          <c:dPt>
            <c:idx val="3"/>
            <c:invertIfNegative val="0"/>
            <c:bubble3D val="0"/>
            <c:spPr>
              <a:solidFill>
                <a:srgbClr val="C5E1B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DDDE-AB49-99A4-E3B7419E151D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DDDE-AB49-99A4-E3B7419E151D}"/>
              </c:ext>
            </c:extLst>
          </c:dPt>
          <c:dPt>
            <c:idx val="5"/>
            <c:invertIfNegative val="0"/>
            <c:bubble3D val="0"/>
            <c:spPr>
              <a:solidFill>
                <a:srgbClr val="CC99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DDE-AB49-99A4-E3B7419E151D}"/>
              </c:ext>
            </c:extLst>
          </c:dPt>
          <c:dPt>
            <c:idx val="6"/>
            <c:invertIfNegative val="0"/>
            <c:bubble3D val="0"/>
            <c:spPr>
              <a:solidFill>
                <a:srgbClr val="FFCD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25-4B36-9334-8585ED9FE14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41D2E940-0802-8F46-B2B5-B799CA7AFD6D}" type="VALUE">
                      <a:rPr lang="en-US">
                        <a:solidFill>
                          <a:schemeClr val="tx1"/>
                        </a:solidFill>
                      </a:rPr>
                      <a:pPr/>
                      <a:t>[VALEUR]</a:t>
                    </a:fld>
                    <a:endParaRPr lang="fr-FR"/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DDDE-AB49-99A4-E3B7419E151D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4A6AEA8D-33BB-6941-B90D-9AC1DBF599EA}" type="VALUE">
                      <a:rPr lang="en-US">
                        <a:solidFill>
                          <a:schemeClr val="tx1"/>
                        </a:solidFill>
                      </a:rPr>
                      <a:pPr/>
                      <a:t>[VALEUR]</a:t>
                    </a:fld>
                    <a:endParaRPr lang="fr-FR"/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DDDE-AB49-99A4-E3B7419E151D}"/>
                </c:ext>
              </c:extLst>
            </c:dLbl>
            <c:dLbl>
              <c:idx val="4"/>
              <c:layout>
                <c:manualLayout>
                  <c:x val="-8.1718991898205195E-2"/>
                  <c:y val="-7.1912540577520334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DDDE-AB49-99A4-E3B7419E151D}"/>
                </c:ext>
              </c:extLst>
            </c:dLbl>
            <c:dLbl>
              <c:idx val="6"/>
              <c:layout>
                <c:manualLayout>
                  <c:x val="-9.45557689046439E-2"/>
                  <c:y val="7.1963510247168919E-3"/>
                </c:manualLayout>
              </c:layout>
              <c:tx>
                <c:rich>
                  <a:bodyPr/>
                  <a:lstStyle/>
                  <a:p>
                    <a:fld id="{91784C48-693B-4A02-836F-C2ED9B0BFD9F}" type="VALUE">
                      <a:rPr lang="en-US">
                        <a:solidFill>
                          <a:srgbClr val="FF0000"/>
                        </a:solidFill>
                      </a:rPr>
                      <a:pPr/>
                      <a:t>[VALEUR]</a:t>
                    </a:fld>
                    <a:endParaRPr lang="fr-FR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D-3B25-4B36-9334-8585ED9FE14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60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Ref>
              <c:f>Feuil1!$A$2:$A$8</c:f>
              <c:strCache>
                <c:ptCount val="7"/>
                <c:pt idx="0">
                  <c:v>Publicis Media Gr.</c:v>
                </c:pt>
                <c:pt idx="1">
                  <c:v>Omnicom Media</c:v>
                </c:pt>
                <c:pt idx="2">
                  <c:v>Omnicom Media Gr.</c:v>
                </c:pt>
                <c:pt idx="3">
                  <c:v>dentsu</c:v>
                </c:pt>
                <c:pt idx="4">
                  <c:v>Mediabrands IPG</c:v>
                </c:pt>
                <c:pt idx="5">
                  <c:v>Havas Media</c:v>
                </c:pt>
                <c:pt idx="6">
                  <c:v>WPP Media</c:v>
                </c:pt>
              </c:strCache>
            </c:strRef>
          </c:cat>
          <c:val>
            <c:numRef>
              <c:f>Feuil1!$B$2:$B$8</c:f>
              <c:numCache>
                <c:formatCode>General</c:formatCode>
                <c:ptCount val="7"/>
                <c:pt idx="0">
                  <c:v>77</c:v>
                </c:pt>
                <c:pt idx="1">
                  <c:v>36</c:v>
                </c:pt>
                <c:pt idx="2">
                  <c:v>23</c:v>
                </c:pt>
                <c:pt idx="3">
                  <c:v>20</c:v>
                </c:pt>
                <c:pt idx="4">
                  <c:v>13</c:v>
                </c:pt>
                <c:pt idx="5">
                  <c:v>2</c:v>
                </c:pt>
                <c:pt idx="6">
                  <c:v>-15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DDDE-AB49-99A4-E3B7419E15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1"/>
        <c:overlap val="-100"/>
        <c:axId val="413025808"/>
        <c:axId val="413026200"/>
      </c:barChart>
      <c:catAx>
        <c:axId val="413025808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13026200"/>
        <c:crosses val="autoZero"/>
        <c:auto val="1"/>
        <c:lblAlgn val="ctr"/>
        <c:lblOffset val="700"/>
        <c:tickMarkSkip val="1"/>
        <c:noMultiLvlLbl val="0"/>
      </c:catAx>
      <c:valAx>
        <c:axId val="413026200"/>
        <c:scaling>
          <c:orientation val="minMax"/>
          <c:max val="85"/>
          <c:min val="-20"/>
        </c:scaling>
        <c:delete val="0"/>
        <c:axPos val="t"/>
        <c:majorGridlines>
          <c:spPr>
            <a:ln w="9525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bg1">
                    <a:lumMod val="6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fr-FR"/>
          </a:p>
        </c:txPr>
        <c:crossAx val="4130258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485434821853512"/>
          <c:y val="8.9596972813139261E-3"/>
          <c:w val="0.73580544751338905"/>
          <c:h val="0.92370369286056719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</c:strCache>
            </c:strRef>
          </c:tx>
          <c:spPr>
            <a:solidFill>
              <a:schemeClr val="tx2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C99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DDE-AB49-99A4-E3B7419E151D}"/>
              </c:ext>
            </c:extLst>
          </c:dPt>
          <c:dPt>
            <c:idx val="1"/>
            <c:invertIfNegative val="0"/>
            <c:bubble3D val="0"/>
            <c:spPr>
              <a:solidFill>
                <a:srgbClr val="E2F0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DDDE-AB49-99A4-E3B7419E151D}"/>
              </c:ext>
            </c:extLst>
          </c:dPt>
          <c:dPt>
            <c:idx val="2"/>
            <c:invertIfNegative val="0"/>
            <c:bubble3D val="0"/>
            <c:spPr>
              <a:solidFill>
                <a:srgbClr val="FBE5D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DDDE-AB49-99A4-E3B7419E151D}"/>
              </c:ext>
            </c:extLst>
          </c:dPt>
          <c:dPt>
            <c:idx val="3"/>
            <c:invertIfNegative val="0"/>
            <c:bubble3D val="0"/>
            <c:spPr>
              <a:solidFill>
                <a:srgbClr val="FFE6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DDE-AB49-99A4-E3B7419E151D}"/>
              </c:ext>
            </c:extLst>
          </c:dPt>
          <c:dPt>
            <c:idx val="4"/>
            <c:invertIfNegative val="0"/>
            <c:bubble3D val="0"/>
            <c:spPr>
              <a:solidFill>
                <a:srgbClr val="E2F0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1FD6-DC4F-BAC8-5C09C7463320}"/>
              </c:ext>
            </c:extLst>
          </c:dPt>
          <c:dPt>
            <c:idx val="5"/>
            <c:invertIfNegative val="0"/>
            <c:bubble3D val="0"/>
            <c:spPr>
              <a:solidFill>
                <a:srgbClr val="FBE5D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023F-4973-80CE-94304FF8B8C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Feuil1!$A$2:$A$7</c:f>
              <c:strCache>
                <c:ptCount val="6"/>
                <c:pt idx="0">
                  <c:v>Havas</c:v>
                </c:pt>
                <c:pt idx="1">
                  <c:v>Carat</c:v>
                </c:pt>
                <c:pt idx="2">
                  <c:v>Zenith</c:v>
                </c:pt>
                <c:pt idx="3">
                  <c:v>Hearts &amp; Science</c:v>
                </c:pt>
                <c:pt idx="4">
                  <c:v>dentsu X</c:v>
                </c:pt>
                <c:pt idx="5">
                  <c:v>Starcom</c:v>
                </c:pt>
              </c:strCache>
            </c:strRef>
          </c:cat>
          <c:val>
            <c:numRef>
              <c:f>Feuil1!$B$2:$B$7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12</c:v>
                </c:pt>
                <c:pt idx="3">
                  <c:v>13</c:v>
                </c:pt>
                <c:pt idx="4">
                  <c:v>46</c:v>
                </c:pt>
                <c:pt idx="5">
                  <c:v>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DDDE-AB49-99A4-E3B7419E15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100"/>
        <c:axId val="520819912"/>
        <c:axId val="520820696"/>
      </c:barChart>
      <c:catAx>
        <c:axId val="5208199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520820696"/>
        <c:crosses val="autoZero"/>
        <c:auto val="1"/>
        <c:lblAlgn val="ctr"/>
        <c:lblOffset val="50"/>
        <c:noMultiLvlLbl val="0"/>
      </c:catAx>
      <c:valAx>
        <c:axId val="520820696"/>
        <c:scaling>
          <c:orientation val="minMax"/>
          <c:max val="65"/>
          <c:min val="0"/>
        </c:scaling>
        <c:delete val="0"/>
        <c:axPos val="b"/>
        <c:majorGridlines>
          <c:spPr>
            <a:ln w="9525" cap="flat" cmpd="sng" algn="ctr">
              <a:solidFill>
                <a:schemeClr val="tx2">
                  <a:lumMod val="40000"/>
                  <a:lumOff val="60000"/>
                  <a:alpha val="64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2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defRPr>
            </a:pPr>
            <a:endParaRPr lang="fr-FR"/>
          </a:p>
        </c:txPr>
        <c:crossAx val="52081991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2">
          <a:lumMod val="20000"/>
          <a:lumOff val="80000"/>
        </a:schemeClr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170432" cy="479754"/>
          </a:xfrm>
          <a:prstGeom prst="rect">
            <a:avLst/>
          </a:prstGeom>
        </p:spPr>
        <p:txBody>
          <a:bodyPr vert="horz" lIns="91428" tIns="45714" rIns="91428" bIns="45714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4143063" y="1"/>
            <a:ext cx="3170432" cy="479754"/>
          </a:xfrm>
          <a:prstGeom prst="rect">
            <a:avLst/>
          </a:prstGeom>
        </p:spPr>
        <p:txBody>
          <a:bodyPr vert="horz" lIns="91428" tIns="45714" rIns="91428" bIns="45714" rtlCol="0"/>
          <a:lstStyle>
            <a:lvl1pPr algn="r">
              <a:defRPr sz="1200"/>
            </a:lvl1pPr>
          </a:lstStyle>
          <a:p>
            <a:fld id="{EB267E6B-737D-453A-A636-47971273807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1" y="9119915"/>
            <a:ext cx="3170432" cy="479754"/>
          </a:xfrm>
          <a:prstGeom prst="rect">
            <a:avLst/>
          </a:prstGeom>
        </p:spPr>
        <p:txBody>
          <a:bodyPr vert="horz" lIns="91428" tIns="45714" rIns="91428" bIns="45714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4143063" y="9119915"/>
            <a:ext cx="3170432" cy="479754"/>
          </a:xfrm>
          <a:prstGeom prst="rect">
            <a:avLst/>
          </a:prstGeom>
        </p:spPr>
        <p:txBody>
          <a:bodyPr vert="horz" lIns="91428" tIns="45714" rIns="91428" bIns="45714" rtlCol="0" anchor="b"/>
          <a:lstStyle>
            <a:lvl1pPr algn="r">
              <a:defRPr sz="1200"/>
            </a:lvl1pPr>
          </a:lstStyle>
          <a:p>
            <a:fld id="{9C231566-2957-453E-9639-F0BF614A8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5779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3170432" cy="481286"/>
          </a:xfrm>
          <a:prstGeom prst="rect">
            <a:avLst/>
          </a:prstGeom>
        </p:spPr>
        <p:txBody>
          <a:bodyPr vert="horz" lIns="91428" tIns="45714" rIns="91428" bIns="45714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143063" y="2"/>
            <a:ext cx="3170432" cy="481286"/>
          </a:xfrm>
          <a:prstGeom prst="rect">
            <a:avLst/>
          </a:prstGeom>
        </p:spPr>
        <p:txBody>
          <a:bodyPr vert="horz" lIns="91428" tIns="45714" rIns="91428" bIns="45714" rtlCol="0"/>
          <a:lstStyle>
            <a:lvl1pPr algn="r">
              <a:defRPr sz="1200"/>
            </a:lvl1pPr>
          </a:lstStyle>
          <a:p>
            <a:fld id="{8C5B3ABE-6535-429F-8E6C-91913F727081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484438" y="1200150"/>
            <a:ext cx="234632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8" tIns="45714" rIns="91428" bIns="45714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32033" y="4621268"/>
            <a:ext cx="5851136" cy="3779783"/>
          </a:xfrm>
          <a:prstGeom prst="rect">
            <a:avLst/>
          </a:prstGeom>
        </p:spPr>
        <p:txBody>
          <a:bodyPr vert="horz" lIns="91428" tIns="45714" rIns="91428" bIns="45714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119915"/>
            <a:ext cx="3170432" cy="481286"/>
          </a:xfrm>
          <a:prstGeom prst="rect">
            <a:avLst/>
          </a:prstGeom>
        </p:spPr>
        <p:txBody>
          <a:bodyPr vert="horz" lIns="91428" tIns="45714" rIns="91428" bIns="45714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143063" y="9119915"/>
            <a:ext cx="3170432" cy="481286"/>
          </a:xfrm>
          <a:prstGeom prst="rect">
            <a:avLst/>
          </a:prstGeom>
        </p:spPr>
        <p:txBody>
          <a:bodyPr vert="horz" lIns="91428" tIns="45714" rIns="91428" bIns="45714" rtlCol="0" anchor="b"/>
          <a:lstStyle>
            <a:lvl1pPr algn="r">
              <a:defRPr sz="1200"/>
            </a:lvl1pPr>
          </a:lstStyle>
          <a:p>
            <a:fld id="{47D707FA-3B65-40D6-AAC9-BA651F1C7C2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8642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9728" y="555804"/>
            <a:ext cx="6520220" cy="2017801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9728" y="2779007"/>
            <a:ext cx="6520220" cy="662370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462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0013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hdr="0" ftr="0" dt="0"/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.xml"/><Relationship Id="rId3" Type="http://schemas.openxmlformats.org/officeDocument/2006/relationships/slide" Target="slide6.xml"/><Relationship Id="rId4" Type="http://schemas.openxmlformats.org/officeDocument/2006/relationships/slide" Target="slide4.xml"/><Relationship Id="rId5" Type="http://schemas.openxmlformats.org/officeDocument/2006/relationships/slide" Target="slide3.xml"/><Relationship Id="rId6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slide" Target="slide7.xml"/><Relationship Id="rId4" Type="http://schemas.openxmlformats.org/officeDocument/2006/relationships/slide" Target="slide5.xml"/><Relationship Id="rId5" Type="http://schemas.openxmlformats.org/officeDocument/2006/relationships/slide" Target="slide4.xml"/><Relationship Id="rId6" Type="http://schemas.openxmlformats.org/officeDocument/2006/relationships/slide" Target="slide3.xml"/><Relationship Id="rId7" Type="http://schemas.openxmlformats.org/officeDocument/2006/relationships/slide" Target="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coins arrondis 1">
            <a:hlinkClick r:id="rId2" action="ppaction://hlinksldjump"/>
            <a:extLst>
              <a:ext uri="{FF2B5EF4-FFF2-40B4-BE49-F238E27FC236}">
                <a16:creationId xmlns:a16="http://schemas.microsoft.com/office/drawing/2014/main" id="{87782FCB-205F-2393-7C38-225F198587CB}"/>
              </a:ext>
            </a:extLst>
          </p:cNvPr>
          <p:cNvSpPr/>
          <p:nvPr/>
        </p:nvSpPr>
        <p:spPr>
          <a:xfrm>
            <a:off x="2720000" y="1278965"/>
            <a:ext cx="4601176" cy="68603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PanelBg"/>
          <p:cNvSpPr/>
          <p:nvPr/>
        </p:nvSpPr>
        <p:spPr>
          <a:xfrm>
            <a:off x="0" y="675840"/>
            <a:ext cx="2450000" cy="976356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PanelLabel"/>
          <p:cNvSpPr txBox="1"/>
          <p:nvPr/>
        </p:nvSpPr>
        <p:spPr>
          <a:xfrm>
            <a:off x="150000" y="1050000"/>
            <a:ext cx="2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0" dirty="0">
                <a:solidFill>
                  <a:srgbClr val="CCD5D2"/>
                </a:solidFill>
                <a:latin typeface="Calibri"/>
              </a:rPr>
              <a:t>SOMMAIRE</a:t>
            </a:r>
          </a:p>
        </p:txBody>
      </p:sp>
      <p:sp>
        <p:nvSpPr>
          <p:cNvPr id="12" name="PanelLine1"/>
          <p:cNvSpPr>
            <a:spLocks noGrp="1"/>
          </p:cNvSpPr>
          <p:nvPr/>
        </p:nvSpPr>
        <p:spPr>
          <a:xfrm>
            <a:off x="380000" y="1420000"/>
            <a:ext cx="1700000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PanelTitle1"/>
          <p:cNvSpPr txBox="1"/>
          <p:nvPr/>
        </p:nvSpPr>
        <p:spPr>
          <a:xfrm>
            <a:off x="150000" y="1560000"/>
            <a:ext cx="215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3800" b="1" dirty="0">
                <a:solidFill>
                  <a:srgbClr val="FFFFFF"/>
                </a:solidFill>
                <a:latin typeface="Calibri"/>
              </a:rPr>
              <a:t>New Business</a:t>
            </a:r>
          </a:p>
        </p:txBody>
      </p:sp>
      <p:sp>
        <p:nvSpPr>
          <p:cNvPr id="14" name="PanelTitle2"/>
          <p:cNvSpPr txBox="1"/>
          <p:nvPr/>
        </p:nvSpPr>
        <p:spPr>
          <a:xfrm>
            <a:off x="150000" y="2170000"/>
            <a:ext cx="215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3800" b="1" dirty="0">
                <a:solidFill>
                  <a:srgbClr val="CCD5D2"/>
                </a:solidFill>
                <a:latin typeface="Calibri"/>
              </a:rPr>
              <a:t>Balance</a:t>
            </a:r>
          </a:p>
        </p:txBody>
      </p:sp>
      <p:sp>
        <p:nvSpPr>
          <p:cNvPr id="15" name="PanelLine2"/>
          <p:cNvSpPr>
            <a:spLocks noGrp="1"/>
          </p:cNvSpPr>
          <p:nvPr/>
        </p:nvSpPr>
        <p:spPr>
          <a:xfrm>
            <a:off x="380000" y="2950000"/>
            <a:ext cx="1700000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PanelCity"/>
          <p:cNvSpPr txBox="1"/>
          <p:nvPr/>
        </p:nvSpPr>
        <p:spPr>
          <a:xfrm>
            <a:off x="150000" y="3100000"/>
            <a:ext cx="215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Calibri"/>
              </a:rPr>
              <a:t>Hong Kong</a:t>
            </a:r>
          </a:p>
        </p:txBody>
      </p:sp>
      <p:sp>
        <p:nvSpPr>
          <p:cNvPr id="17" name="PanelDate"/>
          <p:cNvSpPr txBox="1"/>
          <p:nvPr/>
        </p:nvSpPr>
        <p:spPr>
          <a:xfrm>
            <a:off x="150000" y="3600000"/>
            <a:ext cx="21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00" b="0" dirty="0">
                <a:solidFill>
                  <a:srgbClr val="CCD5D2"/>
                </a:solidFill>
                <a:latin typeface="Calibri"/>
              </a:rPr>
              <a:t>September 2025</a:t>
            </a:r>
          </a:p>
        </p:txBody>
      </p:sp>
      <p:sp>
        <p:nvSpPr>
          <p:cNvPr id="18" name="Num1"/>
          <p:cNvSpPr txBox="1"/>
          <p:nvPr/>
        </p:nvSpPr>
        <p:spPr>
          <a:xfrm>
            <a:off x="2720000" y="133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01</a:t>
            </a:r>
          </a:p>
        </p:txBody>
      </p:sp>
      <p:sp>
        <p:nvSpPr>
          <p:cNvPr id="19" name="Bar1"/>
          <p:cNvSpPr/>
          <p:nvPr/>
        </p:nvSpPr>
        <p:spPr>
          <a:xfrm>
            <a:off x="3400000" y="141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itle1"/>
          <p:cNvSpPr txBox="1"/>
          <p:nvPr/>
        </p:nvSpPr>
        <p:spPr>
          <a:xfrm>
            <a:off x="3510000" y="133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Key Findings / Methodology / Perimeter</a:t>
            </a:r>
          </a:p>
        </p:txBody>
      </p:sp>
      <p:sp>
        <p:nvSpPr>
          <p:cNvPr id="21" name="Sep1"/>
          <p:cNvSpPr>
            <a:spLocks noGrp="1"/>
          </p:cNvSpPr>
          <p:nvPr/>
        </p:nvSpPr>
        <p:spPr>
          <a:xfrm>
            <a:off x="2700000" y="230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Num2"/>
          <p:cNvSpPr txBox="1"/>
          <p:nvPr/>
        </p:nvSpPr>
        <p:spPr>
          <a:xfrm>
            <a:off x="2720000" y="277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02</a:t>
            </a:r>
          </a:p>
        </p:txBody>
      </p:sp>
      <p:sp>
        <p:nvSpPr>
          <p:cNvPr id="23" name="Bar2"/>
          <p:cNvSpPr/>
          <p:nvPr/>
        </p:nvSpPr>
        <p:spPr>
          <a:xfrm>
            <a:off x="3400000" y="285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itle2"/>
          <p:cNvSpPr txBox="1"/>
          <p:nvPr/>
        </p:nvSpPr>
        <p:spPr>
          <a:xfrm>
            <a:off x="3510000" y="277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TOP moves 2025</a:t>
            </a:r>
          </a:p>
        </p:txBody>
      </p:sp>
      <p:sp>
        <p:nvSpPr>
          <p:cNvPr id="25" name="Sep2"/>
          <p:cNvSpPr>
            <a:spLocks noGrp="1"/>
          </p:cNvSpPr>
          <p:nvPr/>
        </p:nvSpPr>
        <p:spPr>
          <a:xfrm>
            <a:off x="2700000" y="374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Num3"/>
          <p:cNvSpPr txBox="1"/>
          <p:nvPr/>
        </p:nvSpPr>
        <p:spPr>
          <a:xfrm>
            <a:off x="2720000" y="421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03</a:t>
            </a:r>
          </a:p>
        </p:txBody>
      </p:sp>
      <p:sp>
        <p:nvSpPr>
          <p:cNvPr id="27" name="Bar3"/>
          <p:cNvSpPr/>
          <p:nvPr/>
        </p:nvSpPr>
        <p:spPr>
          <a:xfrm>
            <a:off x="3400000" y="429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Title3"/>
          <p:cNvSpPr txBox="1"/>
          <p:nvPr/>
        </p:nvSpPr>
        <p:spPr>
          <a:xfrm>
            <a:off x="3510000" y="421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New biz Balance overview by agency</a:t>
            </a:r>
          </a:p>
        </p:txBody>
      </p:sp>
      <p:sp>
        <p:nvSpPr>
          <p:cNvPr id="29" name="Sep3"/>
          <p:cNvSpPr>
            <a:spLocks noGrp="1"/>
          </p:cNvSpPr>
          <p:nvPr/>
        </p:nvSpPr>
        <p:spPr>
          <a:xfrm>
            <a:off x="2700000" y="518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Num4"/>
          <p:cNvSpPr txBox="1"/>
          <p:nvPr/>
        </p:nvSpPr>
        <p:spPr>
          <a:xfrm>
            <a:off x="2720000" y="565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04</a:t>
            </a:r>
          </a:p>
        </p:txBody>
      </p:sp>
      <p:sp>
        <p:nvSpPr>
          <p:cNvPr id="31" name="Bar4"/>
          <p:cNvSpPr/>
          <p:nvPr/>
        </p:nvSpPr>
        <p:spPr>
          <a:xfrm>
            <a:off x="3400000" y="573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itle4"/>
          <p:cNvSpPr txBox="1"/>
          <p:nvPr/>
        </p:nvSpPr>
        <p:spPr>
          <a:xfrm>
            <a:off x="3510000" y="565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New biz Balance overview by Group</a:t>
            </a:r>
          </a:p>
        </p:txBody>
      </p:sp>
      <p:sp>
        <p:nvSpPr>
          <p:cNvPr id="33" name="Sep4"/>
          <p:cNvSpPr>
            <a:spLocks noGrp="1"/>
          </p:cNvSpPr>
          <p:nvPr/>
        </p:nvSpPr>
        <p:spPr>
          <a:xfrm>
            <a:off x="2700000" y="662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Num5"/>
          <p:cNvSpPr txBox="1"/>
          <p:nvPr/>
        </p:nvSpPr>
        <p:spPr>
          <a:xfrm>
            <a:off x="2720000" y="709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05</a:t>
            </a:r>
          </a:p>
        </p:txBody>
      </p:sp>
      <p:sp>
        <p:nvSpPr>
          <p:cNvPr id="35" name="Bar5"/>
          <p:cNvSpPr/>
          <p:nvPr/>
        </p:nvSpPr>
        <p:spPr>
          <a:xfrm>
            <a:off x="3400000" y="717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itle5"/>
          <p:cNvSpPr txBox="1"/>
          <p:nvPr/>
        </p:nvSpPr>
        <p:spPr>
          <a:xfrm>
            <a:off x="3510000" y="709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Retentions ranking by agency</a:t>
            </a:r>
          </a:p>
        </p:txBody>
      </p:sp>
      <p:sp>
        <p:nvSpPr>
          <p:cNvPr id="37" name="Sep5"/>
          <p:cNvSpPr>
            <a:spLocks noGrp="1"/>
          </p:cNvSpPr>
          <p:nvPr/>
        </p:nvSpPr>
        <p:spPr>
          <a:xfrm>
            <a:off x="2700000" y="806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8" name="Num6"/>
          <p:cNvSpPr txBox="1"/>
          <p:nvPr/>
        </p:nvSpPr>
        <p:spPr>
          <a:xfrm>
            <a:off x="2720000" y="853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06</a:t>
            </a:r>
          </a:p>
        </p:txBody>
      </p:sp>
      <p:sp>
        <p:nvSpPr>
          <p:cNvPr id="39" name="Bar6"/>
          <p:cNvSpPr/>
          <p:nvPr/>
        </p:nvSpPr>
        <p:spPr>
          <a:xfrm>
            <a:off x="3400000" y="861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itle6"/>
          <p:cNvSpPr txBox="1"/>
          <p:nvPr/>
        </p:nvSpPr>
        <p:spPr>
          <a:xfrm>
            <a:off x="3510000" y="853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NBB 2025 details by agency</a:t>
            </a:r>
          </a:p>
        </p:txBody>
      </p:sp>
      <p:sp>
        <p:nvSpPr>
          <p:cNvPr id="3" name="Rectangle : coins arrondis 2">
            <a:hlinkClick r:id="rId3" action="ppaction://hlinksldjump"/>
            <a:extLst>
              <a:ext uri="{FF2B5EF4-FFF2-40B4-BE49-F238E27FC236}">
                <a16:creationId xmlns:a16="http://schemas.microsoft.com/office/drawing/2014/main" id="{70F7F403-1C8B-6E20-2BD3-A62D6AB4DB74}"/>
              </a:ext>
            </a:extLst>
          </p:cNvPr>
          <p:cNvSpPr/>
          <p:nvPr/>
        </p:nvSpPr>
        <p:spPr>
          <a:xfrm>
            <a:off x="2700000" y="2528047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 : coins arrondis 3">
            <a:hlinkClick r:id="rId4" action="ppaction://hlinksldjump"/>
            <a:extLst>
              <a:ext uri="{FF2B5EF4-FFF2-40B4-BE49-F238E27FC236}">
                <a16:creationId xmlns:a16="http://schemas.microsoft.com/office/drawing/2014/main" id="{5111A6E0-009E-0C98-CD81-15955D017F6B}"/>
              </a:ext>
            </a:extLst>
          </p:cNvPr>
          <p:cNvSpPr/>
          <p:nvPr/>
        </p:nvSpPr>
        <p:spPr>
          <a:xfrm>
            <a:off x="2700000" y="4018364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 : coins arrondis 4">
            <a:hlinkClick r:id="rId5" action="ppaction://hlinksldjump"/>
            <a:extLst>
              <a:ext uri="{FF2B5EF4-FFF2-40B4-BE49-F238E27FC236}">
                <a16:creationId xmlns:a16="http://schemas.microsoft.com/office/drawing/2014/main" id="{A74C022A-340E-DBF9-786A-D6DC159C54B4}"/>
              </a:ext>
            </a:extLst>
          </p:cNvPr>
          <p:cNvSpPr/>
          <p:nvPr/>
        </p:nvSpPr>
        <p:spPr>
          <a:xfrm>
            <a:off x="2700000" y="5444195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 : coins arrondis 5">
            <a:hlinkClick r:id="rId6" action="ppaction://hlinksldjump"/>
            <a:extLst>
              <a:ext uri="{FF2B5EF4-FFF2-40B4-BE49-F238E27FC236}">
                <a16:creationId xmlns:a16="http://schemas.microsoft.com/office/drawing/2014/main" id="{CF47E754-06D4-07B3-C2DB-9F49AC25B980}"/>
              </a:ext>
            </a:extLst>
          </p:cNvPr>
          <p:cNvSpPr/>
          <p:nvPr/>
        </p:nvSpPr>
        <p:spPr>
          <a:xfrm>
            <a:off x="2640000" y="6887501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 : coins arrondis 6">
            <a:hlinkClick r:id="rId7" action="ppaction://hlinksldjump"/>
            <a:extLst>
              <a:ext uri="{FF2B5EF4-FFF2-40B4-BE49-F238E27FC236}">
                <a16:creationId xmlns:a16="http://schemas.microsoft.com/office/drawing/2014/main" id="{003ADE7F-FA3E-67C8-EEFD-A0F88DCA7DE0}"/>
              </a:ext>
            </a:extLst>
          </p:cNvPr>
          <p:cNvSpPr/>
          <p:nvPr/>
        </p:nvSpPr>
        <p:spPr>
          <a:xfrm>
            <a:off x="2700000" y="8377818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7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08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09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10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11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12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13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14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15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6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7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8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8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19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0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1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2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3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4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5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6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7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8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9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3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3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3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4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4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4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4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4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4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4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4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1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2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4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5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6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57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58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59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60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61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62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63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92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193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4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195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96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97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98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99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19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0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1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22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23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24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25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26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27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28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29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30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31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32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33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34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35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6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7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8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9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0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41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42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43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44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45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46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47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4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4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50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51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5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3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5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6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7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8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9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60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61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62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63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64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65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66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67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68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69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70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71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72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73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4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5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7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8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8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8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8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8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8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8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8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8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8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9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1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3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4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5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6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7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98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99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300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301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302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303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04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05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06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07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08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09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0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1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2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31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31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31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32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32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32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2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2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2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2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2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D00E230-C215-6DF4-0C09-FD0DC618A3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924760"/>
              </p:ext>
            </p:extLst>
          </p:nvPr>
        </p:nvGraphicFramePr>
        <p:xfrm>
          <a:off x="354842" y="1403350"/>
          <a:ext cx="6740371" cy="27113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03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40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Perimeter</a:t>
                      </a:r>
                      <a:r>
                        <a:rPr kumimoji="0" lang="en-US" sz="1800" b="0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&amp; </a:t>
                      </a: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Methodology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618"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The </a:t>
                      </a:r>
                      <a:r>
                        <a:rPr lang="fr-FR" sz="1000" dirty="0" err="1"/>
                        <a:t>perimeter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studied</a:t>
                      </a:r>
                      <a:r>
                        <a:rPr lang="fr-FR" sz="1000" dirty="0"/>
                        <a:t> by RECMA </a:t>
                      </a:r>
                      <a:r>
                        <a:rPr lang="fr-FR" sz="1000" dirty="0" err="1"/>
                        <a:t>includes</a:t>
                      </a:r>
                      <a:r>
                        <a:rPr lang="fr-FR" sz="1000" dirty="0"/>
                        <a:t> the 5 international media groups.</a:t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dirty="0"/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Moves are </a:t>
                      </a:r>
                      <a:r>
                        <a:rPr lang="fr-FR" sz="1000" dirty="0" err="1"/>
                        <a:t>considered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based</a:t>
                      </a:r>
                      <a:r>
                        <a:rPr lang="fr-FR" sz="1000" dirty="0"/>
                        <a:t> on </a:t>
                      </a:r>
                      <a:r>
                        <a:rPr lang="fr-FR" sz="1000" dirty="0" err="1"/>
                        <a:t>their</a:t>
                      </a:r>
                      <a:r>
                        <a:rPr lang="fr-FR" sz="1000" dirty="0"/>
                        <a:t> </a:t>
                      </a:r>
                      <a:r>
                        <a:rPr lang="fr-FR" sz="1000" b="1" dirty="0"/>
                        <a:t>date of </a:t>
                      </a:r>
                      <a:r>
                        <a:rPr lang="fr-FR" sz="1000" b="1" dirty="0" err="1"/>
                        <a:t>announcement</a:t>
                      </a:r>
                      <a:r>
                        <a:rPr lang="fr-FR" sz="1000" dirty="0"/>
                        <a:t>. </a:t>
                      </a:r>
                      <a:r>
                        <a:rPr lang="fr-FR" sz="1000" dirty="0" err="1"/>
                        <a:t>We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registered</a:t>
                      </a:r>
                      <a:r>
                        <a:rPr lang="fr-FR" sz="1000" dirty="0"/>
                        <a:t> all </a:t>
                      </a:r>
                      <a:r>
                        <a:rPr lang="fr-FR" sz="1000" b="1" dirty="0" err="1"/>
                        <a:t>classical</a:t>
                      </a:r>
                      <a:r>
                        <a:rPr lang="fr-FR" sz="1000" b="1" dirty="0"/>
                        <a:t> media </a:t>
                      </a:r>
                      <a:r>
                        <a:rPr lang="fr-FR" sz="1000" b="1" dirty="0" err="1"/>
                        <a:t>assignments</a:t>
                      </a:r>
                      <a:r>
                        <a:rPr lang="fr-FR" sz="1000" dirty="0"/>
                        <a:t> (incl. planning, </a:t>
                      </a:r>
                      <a:r>
                        <a:rPr lang="fr-FR" sz="1000" dirty="0" err="1"/>
                        <a:t>buying</a:t>
                      </a:r>
                      <a:r>
                        <a:rPr lang="fr-FR" sz="1000" dirty="0"/>
                        <a:t>, </a:t>
                      </a:r>
                      <a:r>
                        <a:rPr lang="fr-FR" sz="1000" dirty="0" err="1"/>
                        <a:t>strategic</a:t>
                      </a:r>
                      <a:r>
                        <a:rPr lang="fr-FR" sz="1000" dirty="0"/>
                        <a:t> planning for all or </a:t>
                      </a:r>
                      <a:r>
                        <a:rPr lang="fr-FR" sz="1000" dirty="0" err="1"/>
                        <a:t>only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selected</a:t>
                      </a:r>
                      <a:r>
                        <a:rPr lang="fr-FR" sz="1000" dirty="0"/>
                        <a:t> media) as </a:t>
                      </a:r>
                      <a:r>
                        <a:rPr lang="fr-FR" sz="1000" dirty="0" err="1"/>
                        <a:t>well</a:t>
                      </a:r>
                      <a:r>
                        <a:rPr lang="fr-FR" sz="1000" dirty="0"/>
                        <a:t> as </a:t>
                      </a:r>
                      <a:r>
                        <a:rPr lang="fr-FR" sz="1000" b="1" dirty="0"/>
                        <a:t>digital</a:t>
                      </a:r>
                      <a:r>
                        <a:rPr lang="fr-FR" sz="1000" dirty="0"/>
                        <a:t> or </a:t>
                      </a:r>
                      <a:r>
                        <a:rPr lang="fr-FR" sz="1000" b="1" dirty="0" err="1"/>
                        <a:t>other</a:t>
                      </a:r>
                      <a:r>
                        <a:rPr lang="fr-FR" sz="1000" b="1" dirty="0"/>
                        <a:t> </a:t>
                      </a:r>
                      <a:r>
                        <a:rPr lang="fr-FR" sz="1000" b="1" dirty="0" err="1"/>
                        <a:t>specialized</a:t>
                      </a:r>
                      <a:r>
                        <a:rPr lang="fr-FR" sz="1000" b="1" dirty="0"/>
                        <a:t> services </a:t>
                      </a:r>
                      <a:r>
                        <a:rPr lang="fr-FR" sz="1000" b="1" dirty="0" err="1"/>
                        <a:t>assignments</a:t>
                      </a:r>
                      <a:r>
                        <a:rPr lang="fr-FR" sz="1000" dirty="0"/>
                        <a:t>. </a:t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dirty="0"/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 err="1"/>
                        <a:t>Spends</a:t>
                      </a:r>
                      <a:r>
                        <a:rPr lang="fr-FR" sz="1000" dirty="0"/>
                        <a:t> are in </a:t>
                      </a:r>
                      <a:r>
                        <a:rPr lang="fr-FR" sz="1000" b="1" dirty="0"/>
                        <a:t>Integrated </a:t>
                      </a:r>
                      <a:r>
                        <a:rPr lang="fr-FR" sz="1000" b="1" dirty="0" err="1"/>
                        <a:t>Spendings</a:t>
                      </a:r>
                      <a:r>
                        <a:rPr lang="fr-FR" sz="1000" b="1" dirty="0"/>
                        <a:t> </a:t>
                      </a:r>
                      <a:r>
                        <a:rPr lang="fr-FR" sz="1000" dirty="0"/>
                        <a:t>incl. non-</a:t>
                      </a:r>
                      <a:r>
                        <a:rPr lang="fr-FR" sz="1000" dirty="0" err="1"/>
                        <a:t>traditional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activity</a:t>
                      </a:r>
                      <a:r>
                        <a:rPr lang="fr-FR" sz="1000" dirty="0"/>
                        <a:t> (digital, data, content)</a:t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The </a:t>
                      </a:r>
                      <a:r>
                        <a:rPr lang="fr-FR" sz="1000" dirty="0" err="1"/>
                        <a:t>newbiz</a:t>
                      </a:r>
                      <a:r>
                        <a:rPr lang="fr-FR" sz="1000" dirty="0"/>
                        <a:t> balance </a:t>
                      </a:r>
                      <a:r>
                        <a:rPr lang="fr-FR" sz="1000" dirty="0" err="1"/>
                        <a:t>ranking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is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focusing</a:t>
                      </a:r>
                      <a:r>
                        <a:rPr lang="fr-FR" sz="1000" dirty="0"/>
                        <a:t> on </a:t>
                      </a:r>
                      <a:r>
                        <a:rPr lang="fr-FR" sz="1000" b="1" dirty="0"/>
                        <a:t>Net New </a:t>
                      </a:r>
                      <a:r>
                        <a:rPr lang="fr-FR" sz="1000" b="1" dirty="0" err="1"/>
                        <a:t>Biz</a:t>
                      </a:r>
                      <a:r>
                        <a:rPr lang="fr-FR" sz="1000" b="1" dirty="0"/>
                        <a:t> </a:t>
                      </a:r>
                      <a:r>
                        <a:rPr lang="fr-FR" sz="1000" dirty="0"/>
                        <a:t>and </a:t>
                      </a:r>
                      <a:r>
                        <a:rPr lang="fr-FR" sz="1000" dirty="0" err="1"/>
                        <a:t>therefore</a:t>
                      </a:r>
                      <a:r>
                        <a:rPr lang="fr-FR" sz="1000" dirty="0"/>
                        <a:t> retentions, </a:t>
                      </a:r>
                      <a:r>
                        <a:rPr lang="fr-FR" sz="1000" dirty="0" err="1"/>
                        <a:t>contract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renewal</a:t>
                      </a:r>
                      <a:r>
                        <a:rPr lang="fr-FR" sz="1000" dirty="0"/>
                        <a:t> and </a:t>
                      </a:r>
                      <a:r>
                        <a:rPr lang="fr-FR" sz="1000" dirty="0" err="1"/>
                        <a:t>transfers</a:t>
                      </a:r>
                      <a:r>
                        <a:rPr lang="fr-FR" sz="1000" dirty="0"/>
                        <a:t> are not </a:t>
                      </a:r>
                      <a:r>
                        <a:rPr lang="fr-FR" sz="1000" dirty="0" err="1"/>
                        <a:t>included</a:t>
                      </a:r>
                      <a:r>
                        <a:rPr lang="fr-FR" sz="1000" dirty="0"/>
                        <a:t> in the </a:t>
                      </a:r>
                      <a:r>
                        <a:rPr lang="fr-FR" sz="1000" dirty="0" err="1"/>
                        <a:t>calculation</a:t>
                      </a:r>
                      <a:r>
                        <a:rPr lang="fr-FR" sz="1000" dirty="0"/>
                        <a:t>. </a:t>
                      </a:r>
                      <a:r>
                        <a:rPr lang="fr-FR" sz="1000" dirty="0" err="1"/>
                        <a:t>However</a:t>
                      </a:r>
                      <a:r>
                        <a:rPr lang="fr-FR" sz="1000" dirty="0"/>
                        <a:t>, </a:t>
                      </a:r>
                      <a:r>
                        <a:rPr lang="fr-FR" sz="1000" dirty="0" err="1"/>
                        <a:t>these</a:t>
                      </a:r>
                      <a:r>
                        <a:rPr lang="fr-FR" sz="1000" dirty="0"/>
                        <a:t> key informations can </a:t>
                      </a:r>
                      <a:r>
                        <a:rPr lang="fr-FR" sz="1000" dirty="0" err="1"/>
                        <a:t>be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found</a:t>
                      </a:r>
                      <a:r>
                        <a:rPr lang="fr-FR" sz="1000" dirty="0"/>
                        <a:t> in the </a:t>
                      </a:r>
                      <a:r>
                        <a:rPr lang="fr-FR" sz="1000" dirty="0" err="1"/>
                        <a:t>detailed</a:t>
                      </a:r>
                      <a:r>
                        <a:rPr lang="fr-FR" sz="1000" dirty="0"/>
                        <a:t> tables for </a:t>
                      </a:r>
                      <a:r>
                        <a:rPr lang="fr-FR" sz="1000" dirty="0" err="1"/>
                        <a:t>each</a:t>
                      </a:r>
                      <a:r>
                        <a:rPr lang="fr-FR" sz="1000" dirty="0"/>
                        <a:t> network. </a:t>
                      </a:r>
                      <a:r>
                        <a:rPr lang="fr-FR" sz="1000" dirty="0" err="1"/>
                        <a:t>Moreover</a:t>
                      </a:r>
                      <a:r>
                        <a:rPr lang="fr-FR" sz="1000" dirty="0"/>
                        <a:t>, </a:t>
                      </a:r>
                      <a:r>
                        <a:rPr lang="fr-FR" sz="1000" dirty="0" err="1"/>
                        <a:t>we</a:t>
                      </a:r>
                      <a:r>
                        <a:rPr lang="fr-FR" sz="1000" dirty="0"/>
                        <a:t> do value retentions/</a:t>
                      </a:r>
                      <a:r>
                        <a:rPr lang="fr-FR" sz="1000" dirty="0" err="1"/>
                        <a:t>contract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renewals</a:t>
                      </a:r>
                      <a:r>
                        <a:rPr lang="fr-FR" sz="1000" dirty="0"/>
                        <a:t> in </a:t>
                      </a:r>
                      <a:r>
                        <a:rPr lang="fr-FR" sz="1000" dirty="0" err="1"/>
                        <a:t>two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different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criteria</a:t>
                      </a:r>
                      <a:r>
                        <a:rPr lang="fr-FR" sz="1000" dirty="0"/>
                        <a:t> of the qualitative </a:t>
                      </a:r>
                      <a:r>
                        <a:rPr lang="fr-FR" sz="1000" dirty="0" err="1"/>
                        <a:t>evaluation</a:t>
                      </a:r>
                      <a:r>
                        <a:rPr lang="fr-FR" sz="1000" dirty="0"/>
                        <a:t> : the </a:t>
                      </a:r>
                      <a:r>
                        <a:rPr lang="fr-FR" sz="1000" i="1" dirty="0" err="1"/>
                        <a:t>Competitiveness</a:t>
                      </a:r>
                      <a:r>
                        <a:rPr lang="fr-FR" sz="1000" i="1" dirty="0"/>
                        <a:t> in </a:t>
                      </a:r>
                      <a:r>
                        <a:rPr lang="fr-FR" sz="1000" i="1" dirty="0" err="1"/>
                        <a:t>pitches</a:t>
                      </a:r>
                      <a:r>
                        <a:rPr lang="fr-FR" sz="1000" i="1" dirty="0"/>
                        <a:t> </a:t>
                      </a:r>
                      <a:r>
                        <a:rPr lang="fr-FR" sz="1000" dirty="0" err="1"/>
                        <a:t>criteria</a:t>
                      </a:r>
                      <a:r>
                        <a:rPr lang="fr-FR" sz="1000" dirty="0"/>
                        <a:t> (Table 18) as </a:t>
                      </a:r>
                      <a:r>
                        <a:rPr lang="fr-FR" sz="1000" dirty="0" err="1"/>
                        <a:t>well</a:t>
                      </a:r>
                      <a:r>
                        <a:rPr lang="fr-FR" sz="1000" dirty="0"/>
                        <a:t> as </a:t>
                      </a:r>
                      <a:r>
                        <a:rPr lang="fr-FR" sz="1000" i="1" dirty="0"/>
                        <a:t>Client </a:t>
                      </a:r>
                      <a:r>
                        <a:rPr lang="fr-FR" sz="1000" i="1" dirty="0" err="1"/>
                        <a:t>relationship</a:t>
                      </a:r>
                      <a:r>
                        <a:rPr lang="fr-FR" sz="1000" i="1" dirty="0"/>
                        <a:t> </a:t>
                      </a:r>
                      <a:r>
                        <a:rPr lang="fr-FR" sz="1000" i="1" dirty="0" err="1"/>
                        <a:t>stability</a:t>
                      </a:r>
                      <a:r>
                        <a:rPr lang="fr-FR" sz="1000" i="1" dirty="0"/>
                        <a:t> </a:t>
                      </a:r>
                      <a:r>
                        <a:rPr lang="fr-FR" sz="1000" dirty="0"/>
                        <a:t>(Table 25).</a:t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68000" marR="360000" marT="72000" marB="3600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3678728B-9160-78F9-5E05-269319D18C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859221"/>
              </p:ext>
            </p:extLst>
          </p:nvPr>
        </p:nvGraphicFramePr>
        <p:xfrm>
          <a:off x="354842" y="4317478"/>
          <a:ext cx="3288922" cy="22419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872">
                  <a:extLst>
                    <a:ext uri="{9D8B030D-6E8A-4147-A177-3AD203B41FA5}">
                      <a16:colId xmlns:a16="http://schemas.microsoft.com/office/drawing/2014/main" val="605464077"/>
                    </a:ext>
                  </a:extLst>
                </a:gridCol>
                <a:gridCol w="129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873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TOP 3 </a:t>
                      </a:r>
                      <a:r>
                        <a:rPr kumimoji="0" lang="en-US" sz="1800" b="0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agencies</a:t>
                      </a: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2025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E52">
                        <a:alpha val="6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Perimeter &amp; Market Growth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3256"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108000" marR="108000" marT="10800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dirty="0"/>
                    </a:p>
                  </a:txBody>
                  <a:tcPr marL="216000" marR="108000" marT="108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16E97C3F-BF61-77F8-8A2D-89720DA5FA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723905"/>
              </p:ext>
            </p:extLst>
          </p:nvPr>
        </p:nvGraphicFramePr>
        <p:xfrm>
          <a:off x="3834989" y="4317478"/>
          <a:ext cx="3288922" cy="22419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038">
                  <a:extLst>
                    <a:ext uri="{9D8B030D-6E8A-4147-A177-3AD203B41FA5}">
                      <a16:colId xmlns:a16="http://schemas.microsoft.com/office/drawing/2014/main" val="605464077"/>
                    </a:ext>
                  </a:extLst>
                </a:gridCol>
                <a:gridCol w="12088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508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Group </a:t>
                      </a:r>
                      <a:r>
                        <a:rPr kumimoji="0" lang="en-US" sz="1800" b="0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ranking</a:t>
                      </a: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2024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E52">
                        <a:alpha val="6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Perimeter &amp; Market Growth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6901"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8000" marR="108000" marT="10800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dirty="0"/>
                    </a:p>
                  </a:txBody>
                  <a:tcPr marL="72000" marR="108000" marT="10800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ableau 6"/>
          <p:cNvSpPr txBox="1"/>
          <p:nvPr/>
        </p:nvSpPr>
        <p:spPr>
          <a:xfrm>
            <a:off x="354842" y="690000"/>
            <a:ext cx="6840371" cy="51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2800" b="1" dirty="0">
                <a:solidFill>
                  <a:srgbClr val="1F2D2A"/>
                </a:solidFill>
                <a:latin typeface="Calibri"/>
              </a:rPr>
              <a:t>New Business Balance</a:t>
            </a:r>
            <a:r>
              <a:rPr lang="en-US" sz="2800" b="0" dirty="0">
                <a:solidFill>
                  <a:srgbClr val="7FA89E"/>
                </a:solidFill>
                <a:latin typeface="Calibri"/>
              </a:rPr>
              <a:t>  ·  Key Findings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35A7C789-7124-638B-A082-D6F0AD76B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3732132"/>
              </p:ext>
            </p:extLst>
          </p:nvPr>
        </p:nvGraphicFramePr>
        <p:xfrm>
          <a:off x="498575" y="4847748"/>
          <a:ext cx="2987300" cy="1198126"/>
        </p:xfrm>
        <a:graphic>
          <a:graphicData uri="http://schemas.openxmlformats.org/drawingml/2006/table">
            <a:tbl>
              <a:tblPr/>
              <a:tblGrid>
                <a:gridCol w="2344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39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49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21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17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0818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rank</a:t>
                      </a:r>
                      <a:endParaRPr lang="fr-FR" sz="8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82773" marR="82773" marT="41387" marB="41387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1" i="0" u="none" strike="noStrike" dirty="0">
                          <a:solidFill>
                            <a:srgbClr val="C00000"/>
                          </a:solidFill>
                          <a:effectLst/>
                          <a:latin typeface="+mn-lt"/>
                        </a:rPr>
                        <a:t>Hong Kong</a:t>
                      </a:r>
                      <a:b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</a:br>
                      <a:r>
                        <a:rPr lang="fr-F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Top 6 </a:t>
                      </a:r>
                      <a:r>
                        <a:rPr lang="fr-FR" sz="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agencies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2773" marR="82773" marT="41387" marB="41387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fr-F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New</a:t>
                      </a:r>
                    </a:p>
                    <a:p>
                      <a:pPr algn="ctr" fontAlgn="t"/>
                      <a:r>
                        <a:rPr lang="fr-FR" sz="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Biz</a:t>
                      </a:r>
                      <a:r>
                        <a:rPr lang="fr-F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Balance 2025</a:t>
                      </a: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*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FCC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+mn-lt"/>
                        </a:rPr>
                        <a:t>Wins</a:t>
                      </a:r>
                      <a:br>
                        <a:rPr lang="fr-FR" sz="900" b="1" i="0" u="none" strike="noStrike" dirty="0">
                          <a:solidFill>
                            <a:srgbClr val="00B050"/>
                          </a:solidFill>
                          <a:effectLst/>
                          <a:latin typeface="+mn-lt"/>
                        </a:rPr>
                      </a:b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€m</a:t>
                      </a:r>
                      <a:endParaRPr lang="fr-FR" sz="900" b="1" i="0" u="none" strike="noStrike" dirty="0">
                        <a:solidFill>
                          <a:srgbClr val="00B05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42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fr-FR" sz="9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Departures</a:t>
                      </a:r>
                      <a:endParaRPr lang="fr-FR" sz="900" b="1" i="0" u="none" strike="noStrike" dirty="0">
                        <a:solidFill>
                          <a:srgbClr val="FF0000"/>
                        </a:solidFill>
                        <a:effectLst/>
                        <a:latin typeface="+mn-lt"/>
                      </a:endParaRPr>
                    </a:p>
                    <a:p>
                      <a:pPr marL="0" marR="0" lvl="0" indent="0" algn="ctr" defTabSz="755934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>
                          <a:solidFill>
                            <a:srgbClr val="FF0000"/>
                          </a:solidFill>
                        </a:rPr>
                        <a:t>€m</a:t>
                      </a:r>
                      <a:endParaRPr lang="fr-FR" sz="9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41387" marB="41387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32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{{AG_1}}</a:t>
                      </a:r>
                      <a:r>
                        <a:rPr lang="fr-F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  <a:endParaRPr lang="fr-F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EA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{{NBB_1}}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{{WINS_RAW_1}}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{{DEPS_RAW_1}}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32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{{AG_2}}</a:t>
                      </a:r>
                      <a:r>
                        <a:rPr lang="fr-F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{{NBB_2}}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{{WINS_RAW_2}}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{{DEPS_RAW_2}}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07237"/>
                  </a:ext>
                </a:extLst>
              </a:tr>
              <a:tr h="18432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{{AG_3}}</a:t>
                      </a:r>
                      <a:r>
                        <a:rPr lang="fr-F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  <a:endParaRPr lang="fr-F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EA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{{NBB_3}}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{{WINS_RAW_3}}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{{DEPS_RAW_3}}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73190"/>
                  </a:ext>
                </a:extLst>
              </a:tr>
              <a:tr h="18432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{{AG_4}}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{{NBB_4}}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{{WINS_RAW_4}}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{{DEPS_RAW_4}}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9193284"/>
                  </a:ext>
                </a:extLst>
              </a:tr>
            </a:tbl>
          </a:graphicData>
        </a:graphic>
      </p:graphicFrame>
      <p:graphicFrame>
        <p:nvGraphicFramePr>
          <p:cNvPr id="9" name="Graphique 8">
            <a:extLst>
              <a:ext uri="{FF2B5EF4-FFF2-40B4-BE49-F238E27FC236}">
                <a16:creationId xmlns:a16="http://schemas.microsoft.com/office/drawing/2014/main" id="{7BEAAF46-ED84-D331-AAB9-1229AD6D4C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7127594"/>
              </p:ext>
            </p:extLst>
          </p:nvPr>
        </p:nvGraphicFramePr>
        <p:xfrm>
          <a:off x="4107913" y="4807475"/>
          <a:ext cx="2987300" cy="1696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ZoneTexte 10">
            <a:extLst>
              <a:ext uri="{FF2B5EF4-FFF2-40B4-BE49-F238E27FC236}">
                <a16:creationId xmlns:a16="http://schemas.microsoft.com/office/drawing/2014/main" id="{08D2EB54-1E3E-AFA5-1FDD-B4A14C78DD56}"/>
              </a:ext>
            </a:extLst>
          </p:cNvPr>
          <p:cNvSpPr txBox="1"/>
          <p:nvPr/>
        </p:nvSpPr>
        <p:spPr>
          <a:xfrm>
            <a:off x="586576" y="6156288"/>
            <a:ext cx="281129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800" i="1" dirty="0">
                <a:solidFill>
                  <a:srgbClr val="7F968E"/>
                </a:solidFill>
              </a:rPr>
              <a:t>* </a:t>
            </a:r>
            <a:r>
              <a:rPr lang="fr-FR" sz="800" b="1" i="1" u="sng" dirty="0">
                <a:solidFill>
                  <a:srgbClr val="7F968E"/>
                </a:solidFill>
              </a:rPr>
              <a:t>Not</a:t>
            </a:r>
            <a:r>
              <a:rPr lang="fr-FR" sz="800" i="1" dirty="0">
                <a:solidFill>
                  <a:srgbClr val="7F968E"/>
                </a:solidFill>
              </a:rPr>
              <a:t> incl. Retentions, Client </a:t>
            </a:r>
            <a:r>
              <a:rPr lang="fr-FR" sz="800" i="1" dirty="0" err="1">
                <a:solidFill>
                  <a:srgbClr val="7F968E"/>
                </a:solidFill>
              </a:rPr>
              <a:t>renewal</a:t>
            </a:r>
            <a:r>
              <a:rPr lang="fr-FR" sz="800" i="1" dirty="0">
                <a:solidFill>
                  <a:srgbClr val="7F968E"/>
                </a:solidFill>
              </a:rPr>
              <a:t> and </a:t>
            </a:r>
            <a:r>
              <a:rPr lang="fr-FR" sz="800" i="1" dirty="0" err="1">
                <a:solidFill>
                  <a:srgbClr val="7F968E"/>
                </a:solidFill>
              </a:rPr>
              <a:t>Transfers</a:t>
            </a:r>
            <a:r>
              <a:rPr lang="fr-FR" sz="800" i="1" dirty="0">
                <a:solidFill>
                  <a:srgbClr val="7F968E"/>
                </a:solidFill>
              </a:rPr>
              <a:t>. </a:t>
            </a:r>
            <a:endParaRPr lang="en-US" sz="800" i="1" dirty="0">
              <a:solidFill>
                <a:srgbClr val="7F968E"/>
              </a:solidFill>
            </a:endParaRP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C890DE20-4658-C820-5E5D-A77D7E8134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9233475"/>
              </p:ext>
            </p:extLst>
          </p:nvPr>
        </p:nvGraphicFramePr>
        <p:xfrm>
          <a:off x="354842" y="6669881"/>
          <a:ext cx="6740371" cy="36292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0371">
                  <a:extLst>
                    <a:ext uri="{9D8B030D-6E8A-4147-A177-3AD203B41FA5}">
                      <a16:colId xmlns:a16="http://schemas.microsoft.com/office/drawing/2014/main" val="605464077"/>
                    </a:ext>
                  </a:extLst>
                </a:gridCol>
              </a:tblGrid>
              <a:tr h="388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/>
                        </a:rPr>
                        <a:t>5 Key Takeaways</a:t>
                      </a:r>
                      <a:endParaRPr kumimoji="0" 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574"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>{{KEY_TAKEAWAYS}}</a:t>
                      </a:r>
                      <a:r>
                        <a:rPr lang="en-US" sz="1000" b="1" dirty="0"/>
                        <a:t/>
                      </a:r>
                      <a:r>
                        <a:rPr lang="en-US" sz="1000" dirty="0"/>
                        <a:t/>
                      </a:r>
                      <a:r>
                        <a:rPr lang="en-US" sz="1000" dirty="0" err="1"/>
                        <a:t/>
                      </a:r>
                      <a:r>
                        <a:rPr lang="en-US" sz="1000" dirty="0"/>
                        <a:t/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en-US" sz="1000" b="1" dirty="0" err="1"/>
                        <a:t/>
                      </a:r>
                      <a:r>
                        <a:rPr lang="en-US" sz="1000" b="1" dirty="0"/>
                        <a:t/>
                      </a:r>
                      <a:r>
                        <a:rPr lang="en-US" sz="1000" dirty="0"/>
                        <a:t/>
                      </a:r>
                      <a:r>
                        <a:rPr lang="en-US" sz="1000" dirty="0" err="1"/>
                        <a:t/>
                      </a:r>
                      <a:r>
                        <a:rPr lang="en-US" sz="1000" dirty="0"/>
                        <a:t/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fr-FR" sz="1000" b="1" dirty="0" err="1"/>
                        <a:t/>
                      </a:r>
                      <a:r>
                        <a:rPr lang="fr-FR" sz="1000" b="1" dirty="0"/>
                        <a:t/>
                      </a:r>
                      <a:r>
                        <a:rPr lang="fr-FR" sz="1000" b="1" dirty="0" err="1"/>
                        <a:t/>
                      </a:r>
                      <a:r>
                        <a:rPr lang="fr-FR" sz="1000" b="1" dirty="0"/>
                        <a:t/>
                      </a:r>
                      <a:r>
                        <a:rPr lang="fr-FR" sz="1000" b="1" dirty="0" err="1"/>
                        <a:t/>
                      </a:r>
                      <a:r>
                        <a:rPr lang="fr-FR" sz="1000" b="1" dirty="0"/>
                        <a:t/>
                      </a:r>
                      <a:r>
                        <a:rPr lang="fr-FR" sz="1000" b="1" dirty="0" err="1"/>
                        <a:t/>
                      </a:r>
                      <a:r>
                        <a:rPr lang="fr-FR" sz="1000" b="1" dirty="0"/>
                        <a:t/>
                      </a:r>
                      <a:r>
                        <a:rPr lang="fr-FR" sz="1000" b="1" dirty="0" err="1"/>
                        <a:t/>
                      </a:r>
                      <a:r>
                        <a:rPr lang="fr-FR" sz="1000" b="1" dirty="0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en-US" sz="1000" b="1" dirty="0"/>
                        <a:t/>
                      </a:r>
                      <a:r>
                        <a:rPr lang="en-US" sz="1000" dirty="0"/>
                        <a:t/>
                      </a:r>
                      <a:br>
                        <a:rPr lang="en-US" sz="1000" dirty="0"/>
                      </a:br>
                      <a:br>
                        <a:rPr lang="en-US" sz="1000" dirty="0"/>
                      </a:b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en-US" sz="1000" b="1" dirty="0"/>
                        <a:t/>
                      </a:r>
                      <a:r>
                        <a:rPr lang="en-US" sz="1000" dirty="0"/>
                        <a:t/>
                      </a:r>
                      <a:r>
                        <a:rPr lang="en-US" sz="1000" dirty="0" err="1"/>
                        <a:t/>
                      </a:r>
                      <a:r>
                        <a:rPr lang="en-US" sz="1000" dirty="0"/>
                        <a:t/>
                      </a:r>
                      <a:r>
                        <a:rPr lang="en-US" sz="1000" dirty="0" err="1"/>
                        <a:t/>
                      </a:r>
                      <a:r>
                        <a:rPr lang="en-US" sz="1000" dirty="0"/>
                        <a:t/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8000" marR="108000" marT="10800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28" name="Rectangle : coins arrondis 327">
            <a:hlinkClick r:id="rId3" action="ppaction://hlinksldjump"/>
            <a:extLst>
              <a:ext uri="{FF2B5EF4-FFF2-40B4-BE49-F238E27FC236}">
                <a16:creationId xmlns:a16="http://schemas.microsoft.com/office/drawing/2014/main" id="{8F9D9517-6D54-17F0-F2F3-9FDF4BD1BDE9}"/>
              </a:ext>
            </a:extLst>
          </p:cNvPr>
          <p:cNvSpPr/>
          <p:nvPr/>
        </p:nvSpPr>
        <p:spPr>
          <a:xfrm>
            <a:off x="1349956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9" name="Rectangle : coins arrondis 328">
            <a:hlinkClick r:id="rId4" action="ppaction://hlinksldjump"/>
            <a:extLst>
              <a:ext uri="{FF2B5EF4-FFF2-40B4-BE49-F238E27FC236}">
                <a16:creationId xmlns:a16="http://schemas.microsoft.com/office/drawing/2014/main" id="{F54631E0-EC98-031B-BC5C-396AC15DB425}"/>
              </a:ext>
            </a:extLst>
          </p:cNvPr>
          <p:cNvSpPr/>
          <p:nvPr/>
        </p:nvSpPr>
        <p:spPr>
          <a:xfrm>
            <a:off x="2704890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0" name="Rectangle : coins arrondis 329">
            <a:hlinkClick r:id="rId5" action="ppaction://hlinksldjump"/>
            <a:extLst>
              <a:ext uri="{FF2B5EF4-FFF2-40B4-BE49-F238E27FC236}">
                <a16:creationId xmlns:a16="http://schemas.microsoft.com/office/drawing/2014/main" id="{3860AFEF-9698-DBA7-09C6-4992EA37C649}"/>
              </a:ext>
            </a:extLst>
          </p:cNvPr>
          <p:cNvSpPr/>
          <p:nvPr/>
        </p:nvSpPr>
        <p:spPr>
          <a:xfrm>
            <a:off x="4024846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1" name="Rectangle : coins arrondis 330">
            <a:hlinkClick r:id="rId6" action="ppaction://hlinksldjump"/>
            <a:extLst>
              <a:ext uri="{FF2B5EF4-FFF2-40B4-BE49-F238E27FC236}">
                <a16:creationId xmlns:a16="http://schemas.microsoft.com/office/drawing/2014/main" id="{7666B32F-C231-0C80-6471-943C1731194B}"/>
              </a:ext>
            </a:extLst>
          </p:cNvPr>
          <p:cNvSpPr/>
          <p:nvPr/>
        </p:nvSpPr>
        <p:spPr>
          <a:xfrm>
            <a:off x="5284791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2" name="Rectangle : coins arrondis 331">
            <a:hlinkClick r:id="rId7" action="ppaction://hlinksldjump"/>
            <a:extLst>
              <a:ext uri="{FF2B5EF4-FFF2-40B4-BE49-F238E27FC236}">
                <a16:creationId xmlns:a16="http://schemas.microsoft.com/office/drawing/2014/main" id="{1FCFBEDF-AF80-11BC-EC58-3BE1642BC3DE}"/>
              </a:ext>
            </a:extLst>
          </p:cNvPr>
          <p:cNvSpPr/>
          <p:nvPr/>
        </p:nvSpPr>
        <p:spPr>
          <a:xfrm>
            <a:off x="6572720" y="29583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3053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0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0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0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1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1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1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1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1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1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1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1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1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1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1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3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3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3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4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4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5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5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5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5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5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5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5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9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6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92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93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194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195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196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197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19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9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2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1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2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2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2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3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3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3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3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3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3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3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3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3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39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4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1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2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4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4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4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4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4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5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5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5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5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5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5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5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7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9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0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6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64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65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66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67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68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69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70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71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72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73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74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75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76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7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8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9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80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81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82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83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84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85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86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87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8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8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90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91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9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3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5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9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34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4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35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35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35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5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5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5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5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5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00" name="Title"/>
          <p:cNvSpPr txBox="1"/>
          <p:nvPr/>
        </p:nvSpPr>
        <p:spPr>
          <a:xfrm>
            <a:off x="280000" y="420000"/>
            <a:ext cx="6999675" cy="31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2800" b="1" dirty="0">
                <a:solidFill>
                  <a:srgbClr val="1F2D2A"/>
                </a:solidFill>
                <a:latin typeface="Calibri"/>
              </a:rPr>
              <a:t>TOP moves / retentions</a:t>
            </a:r>
            <a:r>
              <a:rPr lang="en-US" sz="2800" b="0" dirty="0">
                <a:solidFill>
                  <a:srgbClr val="7FA89E"/>
                </a:solidFill>
                <a:latin typeface="Calibri"/>
              </a:rPr>
              <a:t>  ·  2025</a:t>
            </a:r>
          </a:p>
        </p:txBody>
      </p:sp>
      <p:sp>
        <p:nvSpPr>
          <p:cNvPr id="301" name="Sub"/>
          <p:cNvSpPr txBox="1"/>
          <p:nvPr/>
        </p:nvSpPr>
        <p:spPr>
          <a:xfrm>
            <a:off x="280000" y="740000"/>
            <a:ext cx="6999675" cy="1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Synthèse des principaux gains, pertes et rétentions (Sep.24 → Sep.25, annonces).</a:t>
            </a:r>
          </a:p>
        </p:txBody>
      </p:sp>
      <p:sp>
        <p:nvSpPr>
          <p:cNvPr id="302" name="HdrR0"/>
          <p:cNvSpPr/>
          <p:nvPr/>
        </p:nvSpPr>
        <p:spPr>
          <a:xfrm>
            <a:off x="280000" y="910000"/>
            <a:ext cx="2246558" cy="35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3" name="HdrT0"/>
          <p:cNvSpPr txBox="1"/>
          <p:nvPr/>
        </p:nvSpPr>
        <p:spPr>
          <a:xfrm>
            <a:off x="330000" y="910000"/>
            <a:ext cx="2176558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WINS MAJEURS</a:t>
            </a:r>
          </a:p>
          <a:p>
            <a:pPr algn="l">
              <a:spcBef>
                <a:spcPts val="40"/>
              </a:spcBef>
            </a:pPr>
            <a:r>
              <a:rPr lang="en-US" sz="870" b="0" dirty="0">
                <a:solidFill>
                  <a:srgbClr val="BDD4CF"/>
                </a:solidFill>
                <a:latin typeface="Calibri"/>
              </a:rPr>
              <a:t>Nouveaux gains (sélection)</a:t>
            </a:r>
          </a:p>
        </p:txBody>
      </p:sp>
      <p:sp>
        <p:nvSpPr>
          <p:cNvPr id="304" name="Bar0_0"/>
          <p:cNvSpPr/>
          <p:nvPr/>
        </p:nvSpPr>
        <p:spPr>
          <a:xfrm>
            <a:off x="280000" y="133000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5" name="Item0_0"/>
          <p:cNvSpPr txBox="1"/>
          <p:nvPr/>
        </p:nvSpPr>
        <p:spPr>
          <a:xfrm>
            <a:off x="330000" y="128000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{{WIN_ADV_1}}  —  {{WIN_AG_1}}  {{WIN_VAL_1}}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06" name="Sep0_1"/>
          <p:cNvSpPr>
            <a:spLocks noGrp="1"/>
          </p:cNvSpPr>
          <p:nvPr/>
        </p:nvSpPr>
        <p:spPr>
          <a:xfrm>
            <a:off x="330000" y="302588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07" name="Bar0_1"/>
          <p:cNvSpPr/>
          <p:nvPr/>
        </p:nvSpPr>
        <p:spPr>
          <a:xfrm>
            <a:off x="280000" y="307588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8" name="Item0_1"/>
          <p:cNvSpPr txBox="1"/>
          <p:nvPr/>
        </p:nvSpPr>
        <p:spPr>
          <a:xfrm>
            <a:off x="330000" y="302588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{{WIN_ADV_2}}  —  {{WIN_AG_2}}  {{WIN_VAL_2}}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09" name="Sep0_2"/>
          <p:cNvSpPr>
            <a:spLocks noGrp="1"/>
          </p:cNvSpPr>
          <p:nvPr/>
        </p:nvSpPr>
        <p:spPr>
          <a:xfrm>
            <a:off x="330000" y="477176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0" name="Bar0_2"/>
          <p:cNvSpPr/>
          <p:nvPr/>
        </p:nvSpPr>
        <p:spPr>
          <a:xfrm>
            <a:off x="280000" y="482176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1" name="Item0_2"/>
          <p:cNvSpPr txBox="1"/>
          <p:nvPr/>
        </p:nvSpPr>
        <p:spPr>
          <a:xfrm>
            <a:off x="330000" y="477176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{{WIN_ADV_3}}  —  {{WIN_AG_3}}  {{WIN_VAL_3}}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12" name="Sep0_3"/>
          <p:cNvSpPr>
            <a:spLocks noGrp="1"/>
          </p:cNvSpPr>
          <p:nvPr/>
        </p:nvSpPr>
        <p:spPr>
          <a:xfrm>
            <a:off x="330000" y="651764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3" name="Bar0_3"/>
          <p:cNvSpPr/>
          <p:nvPr/>
        </p:nvSpPr>
        <p:spPr>
          <a:xfrm>
            <a:off x="280000" y="656764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4" name="Item0_3"/>
          <p:cNvSpPr txBox="1"/>
          <p:nvPr/>
        </p:nvSpPr>
        <p:spPr>
          <a:xfrm>
            <a:off x="330000" y="651764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{{WIN_ADV_4}}  —  {{WIN_AG_4}}  {{WIN_VAL_4}}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15" name="Sep0_4"/>
          <p:cNvSpPr>
            <a:spLocks noGrp="1"/>
          </p:cNvSpPr>
          <p:nvPr/>
        </p:nvSpPr>
        <p:spPr>
          <a:xfrm>
            <a:off x="330000" y="826352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6" name="Bar0_4"/>
          <p:cNvSpPr/>
          <p:nvPr/>
        </p:nvSpPr>
        <p:spPr>
          <a:xfrm>
            <a:off x="280000" y="831352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7" name="Item0_4"/>
          <p:cNvSpPr txBox="1"/>
          <p:nvPr/>
        </p:nvSpPr>
        <p:spPr>
          <a:xfrm>
            <a:off x="330000" y="826352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{{WIN_ADV_5}}  —  {{WIN_AG_5}}  {{WIN_VAL_5}}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18" name="HdrR1"/>
          <p:cNvSpPr/>
          <p:nvPr/>
        </p:nvSpPr>
        <p:spPr>
          <a:xfrm>
            <a:off x="2656558" y="910000"/>
            <a:ext cx="2246558" cy="350000"/>
          </a:xfrm>
          <a:prstGeom prst="rect">
            <a:avLst/>
          </a:prstGeom>
          <a:solidFill>
            <a:srgbClr val="7D3E3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9" name="HdrT1"/>
          <p:cNvSpPr txBox="1"/>
          <p:nvPr/>
        </p:nvSpPr>
        <p:spPr>
          <a:xfrm>
            <a:off x="2706558" y="910000"/>
            <a:ext cx="2176558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DÉPARTS MAJEURS</a:t>
            </a:r>
          </a:p>
          <a:p>
            <a:pPr algn="l">
              <a:spcBef>
                <a:spcPts val="40"/>
              </a:spcBef>
            </a:pPr>
            <a:r>
              <a:rPr lang="en-US" sz="870" b="0" dirty="0">
                <a:solidFill>
                  <a:srgbClr val="BDD4CF"/>
                </a:solidFill>
                <a:latin typeface="Calibri"/>
              </a:rPr>
              <a:t>Pertes / sorties (sélection)</a:t>
            </a:r>
          </a:p>
        </p:txBody>
      </p:sp>
      <p:sp>
        <p:nvSpPr>
          <p:cNvPr id="320" name="Bar1_0"/>
          <p:cNvSpPr/>
          <p:nvPr/>
        </p:nvSpPr>
        <p:spPr>
          <a:xfrm>
            <a:off x="2656558" y="133000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1" name="Item1_0"/>
          <p:cNvSpPr txBox="1"/>
          <p:nvPr/>
        </p:nvSpPr>
        <p:spPr>
          <a:xfrm>
            <a:off x="2706558" y="128000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{{DEP_ADV_1}}  —  {{DEP_AG_1}}  {{DEP_VAL_1}}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22" name="Sep1_1"/>
          <p:cNvSpPr>
            <a:spLocks noGrp="1"/>
          </p:cNvSpPr>
          <p:nvPr/>
        </p:nvSpPr>
        <p:spPr>
          <a:xfrm>
            <a:off x="2706558" y="302588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23" name="Bar1_1"/>
          <p:cNvSpPr/>
          <p:nvPr/>
        </p:nvSpPr>
        <p:spPr>
          <a:xfrm>
            <a:off x="2656558" y="307588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4" name="Item1_1"/>
          <p:cNvSpPr txBox="1"/>
          <p:nvPr/>
        </p:nvSpPr>
        <p:spPr>
          <a:xfrm>
            <a:off x="2706558" y="302588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{{DEP_ADV_2}}  —  {{DEP_AG_2}}  {{DEP_VAL_2}}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25" name="Sep1_2"/>
          <p:cNvSpPr>
            <a:spLocks noGrp="1"/>
          </p:cNvSpPr>
          <p:nvPr/>
        </p:nvSpPr>
        <p:spPr>
          <a:xfrm>
            <a:off x="2706558" y="477176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26" name="Bar1_2"/>
          <p:cNvSpPr/>
          <p:nvPr/>
        </p:nvSpPr>
        <p:spPr>
          <a:xfrm>
            <a:off x="2656558" y="482176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7" name="Item1_2"/>
          <p:cNvSpPr txBox="1"/>
          <p:nvPr/>
        </p:nvSpPr>
        <p:spPr>
          <a:xfrm>
            <a:off x="2706558" y="477176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{{DEP_ADV_3}}  —  {{DEP_AG_3}}  {{DEP_VAL_3}}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7D3E3E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28" name="Sep1_3"/>
          <p:cNvSpPr>
            <a:spLocks noGrp="1"/>
          </p:cNvSpPr>
          <p:nvPr/>
        </p:nvSpPr>
        <p:spPr>
          <a:xfrm>
            <a:off x="2706558" y="651764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29" name="Bar1_3"/>
          <p:cNvSpPr/>
          <p:nvPr/>
        </p:nvSpPr>
        <p:spPr>
          <a:xfrm>
            <a:off x="2656558" y="656764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30" name="Item1_3"/>
          <p:cNvSpPr txBox="1"/>
          <p:nvPr/>
        </p:nvSpPr>
        <p:spPr>
          <a:xfrm>
            <a:off x="2706558" y="651764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{{DEP_ADV_4}}  —  {{DEP_AG_4}}  {{DEP_VAL_4}}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7D3E3E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31" name="Sep1_4"/>
          <p:cNvSpPr>
            <a:spLocks noGrp="1"/>
          </p:cNvSpPr>
          <p:nvPr/>
        </p:nvSpPr>
        <p:spPr>
          <a:xfrm>
            <a:off x="2706558" y="826352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32" name="Bar1_4"/>
          <p:cNvSpPr/>
          <p:nvPr/>
        </p:nvSpPr>
        <p:spPr>
          <a:xfrm>
            <a:off x="2656558" y="831352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33" name="Item1_4"/>
          <p:cNvSpPr txBox="1"/>
          <p:nvPr/>
        </p:nvSpPr>
        <p:spPr>
          <a:xfrm>
            <a:off x="2706558" y="826352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{{DEP_ADV_5}}  —  {{DEP_AG_5}}  {{DEP_VAL_5}}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34" name="HdrR2"/>
          <p:cNvSpPr/>
          <p:nvPr/>
        </p:nvSpPr>
        <p:spPr>
          <a:xfrm>
            <a:off x="5033116" y="910000"/>
            <a:ext cx="2246558" cy="350000"/>
          </a:xfrm>
          <a:prstGeom prst="rect">
            <a:avLst/>
          </a:prstGeom>
          <a:solidFill>
            <a:srgbClr val="4A6E6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35" name="HdrT2"/>
          <p:cNvSpPr txBox="1"/>
          <p:nvPr/>
        </p:nvSpPr>
        <p:spPr>
          <a:xfrm>
            <a:off x="5083116" y="910000"/>
            <a:ext cx="2176558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RÉTENTIONS NOTABLES</a:t>
            </a:r>
          </a:p>
          <a:p>
            <a:pPr algn="l">
              <a:spcBef>
                <a:spcPts val="40"/>
              </a:spcBef>
            </a:pPr>
            <a:r>
              <a:rPr lang="en-US" sz="870" b="0" dirty="0">
                <a:solidFill>
                  <a:srgbClr val="BDD4CF"/>
                </a:solidFill>
                <a:latin typeface="Calibri"/>
              </a:rPr>
              <a:t>Renouvellements (hors NBB)</a:t>
            </a:r>
          </a:p>
        </p:txBody>
      </p:sp>
      <p:sp>
        <p:nvSpPr>
          <p:cNvPr id="336" name="Bar2_0"/>
          <p:cNvSpPr/>
          <p:nvPr/>
        </p:nvSpPr>
        <p:spPr>
          <a:xfrm>
            <a:off x="5033116" y="1330000"/>
            <a:ext cx="35000" cy="2082350"/>
          </a:xfrm>
          <a:prstGeom prst="rect">
            <a:avLst/>
          </a:prstGeom>
          <a:solidFill>
            <a:srgbClr val="4A6E64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37" name="Item2_0"/>
          <p:cNvSpPr txBox="1"/>
          <p:nvPr/>
        </p:nvSpPr>
        <p:spPr>
          <a:xfrm>
            <a:off x="5083116" y="1280000"/>
            <a:ext cx="2186558" cy="79084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{{RET_1}}  —  {{RET_AG_1}}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38" name="Sep2_1"/>
          <p:cNvSpPr>
            <a:spLocks noGrp="1"/>
          </p:cNvSpPr>
          <p:nvPr/>
        </p:nvSpPr>
        <p:spPr>
          <a:xfrm>
            <a:off x="5009780" y="2144538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39" name="Bar2_1"/>
          <p:cNvSpPr/>
          <p:nvPr/>
        </p:nvSpPr>
        <p:spPr>
          <a:xfrm>
            <a:off x="5033116" y="3512350"/>
            <a:ext cx="35000" cy="2082350"/>
          </a:xfrm>
          <a:prstGeom prst="rect">
            <a:avLst/>
          </a:prstGeom>
          <a:solidFill>
            <a:srgbClr val="4A6E64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40" name="Item2_1"/>
          <p:cNvSpPr txBox="1"/>
          <p:nvPr/>
        </p:nvSpPr>
        <p:spPr>
          <a:xfrm>
            <a:off x="5083116" y="2097742"/>
            <a:ext cx="2186558" cy="95474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{{RET_2}}  —  {{RET_AG_2}}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41" name="Sep2_2"/>
          <p:cNvSpPr>
            <a:spLocks noGrp="1"/>
          </p:cNvSpPr>
          <p:nvPr/>
        </p:nvSpPr>
        <p:spPr>
          <a:xfrm>
            <a:off x="5083116" y="564470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42" name="Bar2_2"/>
          <p:cNvSpPr/>
          <p:nvPr/>
        </p:nvSpPr>
        <p:spPr>
          <a:xfrm>
            <a:off x="5033116" y="5694700"/>
            <a:ext cx="35000" cy="2082350"/>
          </a:xfrm>
          <a:prstGeom prst="rect">
            <a:avLst/>
          </a:prstGeom>
          <a:solidFill>
            <a:srgbClr val="4A6E64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43" name="Item2_2"/>
          <p:cNvSpPr txBox="1"/>
          <p:nvPr/>
        </p:nvSpPr>
        <p:spPr>
          <a:xfrm>
            <a:off x="5083116" y="5644700"/>
            <a:ext cx="2186558" cy="218235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{{RET_3}}  —  {{RET_AG_3}}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44" name="Sep2_3"/>
          <p:cNvSpPr>
            <a:spLocks noGrp="1"/>
          </p:cNvSpPr>
          <p:nvPr/>
        </p:nvSpPr>
        <p:spPr>
          <a:xfrm>
            <a:off x="5083116" y="782705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45" name="Bar2_3"/>
          <p:cNvSpPr/>
          <p:nvPr/>
        </p:nvSpPr>
        <p:spPr>
          <a:xfrm>
            <a:off x="5033116" y="7877050"/>
            <a:ext cx="35000" cy="2082350"/>
          </a:xfrm>
          <a:prstGeom prst="rect">
            <a:avLst/>
          </a:prstGeom>
          <a:solidFill>
            <a:srgbClr val="4A6E64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46" name="Item2_3"/>
          <p:cNvSpPr txBox="1"/>
          <p:nvPr/>
        </p:nvSpPr>
        <p:spPr>
          <a:xfrm>
            <a:off x="5083116" y="7827050"/>
            <a:ext cx="2186558" cy="218235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{{RET_4}}  —  {{RET_AG_4}}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47" name="Note"/>
          <p:cNvSpPr txBox="1"/>
          <p:nvPr/>
        </p:nvSpPr>
        <p:spPr>
          <a:xfrm>
            <a:off x="280000" y="10069400"/>
            <a:ext cx="6999675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9AAFAB"/>
                </a:solidFill>
                <a:latin typeface="Calibri"/>
              </a:rPr>
              <a:t>Note : Synthèse des principaux mouvements. Valeurs détaillées dans les tableaux par réseau.</a:t>
            </a:r>
          </a:p>
          <a:p>
            <a:pPr algn="l">
              <a:spcBef>
                <a:spcPts val="30"/>
              </a:spcBef>
            </a:pPr>
            <a:r>
              <a:rPr lang="en-US" sz="870" b="0" dirty="0">
                <a:solidFill>
                  <a:srgbClr val="9AAFAB"/>
                </a:solidFill>
                <a:latin typeface="Calibri"/>
              </a:rPr>
              <a:t>Les rétentions / renewals / transferts ne sont pas inclus dans le calcul du NBB.</a:t>
            </a:r>
          </a:p>
        </p:txBody>
      </p:sp>
      <p:sp>
        <p:nvSpPr>
          <p:cNvPr id="358" name="Rectangle : coins arrondis 357">
            <a:hlinkClick r:id="rId2" action="ppaction://hlinksldjump"/>
            <a:extLst>
              <a:ext uri="{FF2B5EF4-FFF2-40B4-BE49-F238E27FC236}">
                <a16:creationId xmlns:a16="http://schemas.microsoft.com/office/drawing/2014/main" id="{E3E05981-72E0-5220-CF58-D5AF63163425}"/>
              </a:ext>
            </a:extLst>
          </p:cNvPr>
          <p:cNvSpPr/>
          <p:nvPr/>
        </p:nvSpPr>
        <p:spPr>
          <a:xfrm>
            <a:off x="30005" y="19999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9" name="Rectangle : coins arrondis 358">
            <a:hlinkClick r:id="rId3" action="ppaction://hlinksldjump"/>
            <a:extLst>
              <a:ext uri="{FF2B5EF4-FFF2-40B4-BE49-F238E27FC236}">
                <a16:creationId xmlns:a16="http://schemas.microsoft.com/office/drawing/2014/main" id="{C76105EA-5754-ACA8-A7DF-37C4310B727E}"/>
              </a:ext>
            </a:extLst>
          </p:cNvPr>
          <p:cNvSpPr/>
          <p:nvPr/>
        </p:nvSpPr>
        <p:spPr>
          <a:xfrm>
            <a:off x="2704890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0" name="Rectangle : coins arrondis 359">
            <a:hlinkClick r:id="rId4" action="ppaction://hlinksldjump"/>
            <a:extLst>
              <a:ext uri="{FF2B5EF4-FFF2-40B4-BE49-F238E27FC236}">
                <a16:creationId xmlns:a16="http://schemas.microsoft.com/office/drawing/2014/main" id="{6C4E2A3F-5575-1486-057E-84515788194B}"/>
              </a:ext>
            </a:extLst>
          </p:cNvPr>
          <p:cNvSpPr/>
          <p:nvPr/>
        </p:nvSpPr>
        <p:spPr>
          <a:xfrm>
            <a:off x="4024846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1" name="Rectangle : coins arrondis 360">
            <a:hlinkClick r:id="rId5" action="ppaction://hlinksldjump"/>
            <a:extLst>
              <a:ext uri="{FF2B5EF4-FFF2-40B4-BE49-F238E27FC236}">
                <a16:creationId xmlns:a16="http://schemas.microsoft.com/office/drawing/2014/main" id="{7D4379D1-4918-6DEC-4B0F-C7EDC8AC5F60}"/>
              </a:ext>
            </a:extLst>
          </p:cNvPr>
          <p:cNvSpPr/>
          <p:nvPr/>
        </p:nvSpPr>
        <p:spPr>
          <a:xfrm>
            <a:off x="5284791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2" name="Rectangle : coins arrondis 361">
            <a:hlinkClick r:id="rId6" action="ppaction://hlinksldjump"/>
            <a:extLst>
              <a:ext uri="{FF2B5EF4-FFF2-40B4-BE49-F238E27FC236}">
                <a16:creationId xmlns:a16="http://schemas.microsoft.com/office/drawing/2014/main" id="{3C5698D6-5D0F-A2A2-2B68-E873F5DFBB37}"/>
              </a:ext>
            </a:extLst>
          </p:cNvPr>
          <p:cNvSpPr/>
          <p:nvPr/>
        </p:nvSpPr>
        <p:spPr>
          <a:xfrm>
            <a:off x="6572720" y="29583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4980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0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0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0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1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21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1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1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1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1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1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1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3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3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5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5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5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5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5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5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5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9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6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4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4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5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5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45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45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45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45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45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45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5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59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6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61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62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6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6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6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6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6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6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6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47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47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47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47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47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47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7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7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79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80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8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8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8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84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85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86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87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488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489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490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491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492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493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94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5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6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97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98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99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9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19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94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95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96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7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198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199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1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20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21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2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3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5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2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3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3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3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23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3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3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3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3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3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681" name="Title"/>
          <p:cNvSpPr txBox="1"/>
          <p:nvPr/>
        </p:nvSpPr>
        <p:spPr>
          <a:xfrm>
            <a:off x="280000" y="420000"/>
            <a:ext cx="6999675" cy="31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2200" b="1" dirty="0">
                <a:solidFill>
                  <a:srgbClr val="1F2D2A"/>
                </a:solidFill>
                <a:latin typeface="Calibri"/>
              </a:rPr>
              <a:t>NBB 2025 agencies overview</a:t>
            </a:r>
            <a:r>
              <a:rPr lang="en-US" sz="2200" b="0" dirty="0">
                <a:solidFill>
                  <a:srgbClr val="7FA89E"/>
                </a:solidFill>
                <a:latin typeface="Calibri"/>
              </a:rPr>
              <a:t>  ·  Sep.24 – Sep.25</a:t>
            </a:r>
          </a:p>
        </p:txBody>
      </p:sp>
      <p:sp>
        <p:nvSpPr>
          <p:cNvPr id="682" name="Sub"/>
          <p:cNvSpPr txBox="1"/>
          <p:nvPr/>
        </p:nvSpPr>
        <p:spPr>
          <a:xfrm>
            <a:off x="280000" y="740000"/>
            <a:ext cx="6999675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Retentions, contract renewals &amp; transfers not included  ·  By decreasing NBB balance</a:t>
            </a:r>
          </a:p>
        </p:txBody>
      </p:sp>
      <p:sp>
        <p:nvSpPr>
          <p:cNvPr id="500" name="ChBg"/>
          <p:cNvSpPr/>
          <p:nvPr/>
        </p:nvSpPr>
        <p:spPr>
          <a:xfrm>
            <a:off x="280000" y="1050000"/>
            <a:ext cx="6999675" cy="4600000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1" name="ZL"/>
          <p:cNvSpPr/>
          <p:nvPr/>
        </p:nvSpPr>
        <p:spPr>
          <a:xfrm>
            <a:off x="3670300" y="1020000"/>
            <a:ext cx="10000" cy="4660000"/>
          </a:xfrm>
          <a:prstGeom prst="roundRect">
            <a:avLst>
              <a:gd name="adj" fmla="val 8000"/>
            </a:avLst>
          </a:prstGeom>
          <a:solidFill>
            <a:srgbClr val="E0EBE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2" name="HNeg"/>
          <p:cNvSpPr txBox="1"/>
          <p:nvPr/>
        </p:nvSpPr>
        <p:spPr>
          <a:xfrm>
            <a:off x="1981200" y="830000"/>
            <a:ext cx="16764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40000" bIns="0" anchor="ctr"/>
          <a:lstStyle/>
          <a:p>
            <a:pPr algn="r"/>
            <a:r>
              <a:rPr lang="en-US" sz="850" b="0" dirty="0">
                <a:solidFill>
                  <a:srgbClr val="9AAFAB"/>
                </a:solidFill>
                <a:latin typeface="Calibri"/>
              </a:rPr>
              <a:t>◀ départs ($m)</a:t>
            </a:r>
          </a:p>
        </p:txBody>
      </p:sp>
      <p:sp>
        <p:nvSpPr>
          <p:cNvPr id="503" name="HPos"/>
          <p:cNvSpPr txBox="1"/>
          <p:nvPr/>
        </p:nvSpPr>
        <p:spPr>
          <a:xfrm>
            <a:off x="3683000" y="830000"/>
            <a:ext cx="3594100" cy="19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0" bIns="0" anchor="ctr"/>
          <a:lstStyle/>
          <a:p>
            <a:pPr algn="l"/>
            <a:r>
              <a:rPr lang="en-US" sz="850" b="0" dirty="0">
                <a:solidFill>
                  <a:srgbClr val="9AAFAB"/>
                </a:solidFill>
                <a:latin typeface="Calibri"/>
              </a:rPr>
              <a:t>NBB balance ($m) ▶</a:t>
            </a:r>
          </a:p>
        </p:txBody>
      </p:sp>
      <p:sp>
        <p:nvSpPr>
          <p:cNvPr id="504" name="HLbl"/>
          <p:cNvSpPr txBox="1"/>
          <p:nvPr/>
        </p:nvSpPr>
        <p:spPr>
          <a:xfrm>
            <a:off x="280000" y="830000"/>
            <a:ext cx="16764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850" b="1" dirty="0">
                <a:solidFill>
                  <a:srgbClr val="9AAFAB"/>
                </a:solidFill>
                <a:latin typeface="Calibri"/>
              </a:rPr>
              <a:t>AGENCE</a:t>
            </a:r>
          </a:p>
        </p:txBody>
      </p:sp>
      <p:sp>
        <p:nvSpPr>
          <p:cNvPr id="505" name="Rb0"/>
          <p:cNvSpPr/>
          <p:nvPr/>
        </p:nvSpPr>
        <p:spPr>
          <a:xfrm>
            <a:off x="280000" y="1050000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6" name="Lb0"/>
          <p:cNvSpPr txBox="1"/>
          <p:nvPr/>
        </p:nvSpPr>
        <p:spPr>
          <a:xfrm>
            <a:off x="280000" y="1050000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E87040"/>
                </a:solidFill>
                <a:latin typeface="Calibri"/>
              </a:rPr>
              <a:t>{{AG_1}}</a:t>
            </a:r>
          </a:p>
        </p:txBody>
      </p:sp>
      <p:sp>
        <p:nvSpPr>
          <p:cNvPr id="507" name="Br0"/>
          <p:cNvSpPr/>
          <p:nvPr/>
        </p:nvSpPr>
        <p:spPr>
          <a:xfrm>
            <a:off x="3683000" y="1128857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8" name="Vl0"/>
          <p:cNvSpPr txBox="1"/>
          <p:nvPr/>
        </p:nvSpPr>
        <p:spPr>
          <a:xfrm>
            <a:off x="4724400" y="1050000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E87040"/>
                </a:solidFill>
                <a:latin typeface="Calibri"/>
              </a:rPr>
              <a:t>{{NBB_1}}</a:t>
            </a:r>
          </a:p>
        </p:txBody>
      </p:sp>
      <p:sp>
        <p:nvSpPr>
          <p:cNvPr id="509" name="Lb1"/>
          <p:cNvSpPr txBox="1"/>
          <p:nvPr/>
        </p:nvSpPr>
        <p:spPr>
          <a:xfrm>
            <a:off x="280000" y="1378571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3E7A30"/>
                </a:solidFill>
                <a:latin typeface="Calibri"/>
              </a:rPr>
              <a:t>{{AG_2}}</a:t>
            </a:r>
          </a:p>
        </p:txBody>
      </p:sp>
      <p:sp>
        <p:nvSpPr>
          <p:cNvPr id="510" name="Br1"/>
          <p:cNvSpPr/>
          <p:nvPr/>
        </p:nvSpPr>
        <p:spPr>
          <a:xfrm>
            <a:off x="3683000" y="1457428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1" name="Vl1"/>
          <p:cNvSpPr txBox="1"/>
          <p:nvPr/>
        </p:nvSpPr>
        <p:spPr>
          <a:xfrm>
            <a:off x="4724400" y="1378571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3E7A30"/>
                </a:solidFill>
                <a:latin typeface="Calibri"/>
              </a:rPr>
              <a:t>{{NBB_2}}</a:t>
            </a:r>
          </a:p>
        </p:txBody>
      </p:sp>
      <p:sp>
        <p:nvSpPr>
          <p:cNvPr id="512" name="Rb2"/>
          <p:cNvSpPr/>
          <p:nvPr/>
        </p:nvSpPr>
        <p:spPr>
          <a:xfrm>
            <a:off x="280000" y="1707142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3" name="Lb2"/>
          <p:cNvSpPr txBox="1"/>
          <p:nvPr/>
        </p:nvSpPr>
        <p:spPr>
          <a:xfrm>
            <a:off x="280000" y="1707142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E87040"/>
                </a:solidFill>
                <a:latin typeface="Calibri"/>
              </a:rPr>
              <a:t>{{AG_3}}</a:t>
            </a:r>
          </a:p>
        </p:txBody>
      </p:sp>
      <p:sp>
        <p:nvSpPr>
          <p:cNvPr id="514" name="Br2"/>
          <p:cNvSpPr/>
          <p:nvPr/>
        </p:nvSpPr>
        <p:spPr>
          <a:xfrm>
            <a:off x="3683000" y="1785999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5" name="Vl2"/>
          <p:cNvSpPr txBox="1"/>
          <p:nvPr/>
        </p:nvSpPr>
        <p:spPr>
          <a:xfrm>
            <a:off x="4724400" y="1707142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E87040"/>
                </a:solidFill>
                <a:latin typeface="Calibri"/>
              </a:rPr>
              <a:t>{{NBB_3}}</a:t>
            </a:r>
          </a:p>
        </p:txBody>
      </p:sp>
      <p:sp>
        <p:nvSpPr>
          <p:cNvPr id="516" name="Lb3"/>
          <p:cNvSpPr txBox="1"/>
          <p:nvPr/>
        </p:nvSpPr>
        <p:spPr>
          <a:xfrm>
            <a:off x="280000" y="2035713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C49600"/>
                </a:solidFill>
                <a:latin typeface="Calibri"/>
              </a:rPr>
              <a:t>{{AG_4}}</a:t>
            </a:r>
          </a:p>
        </p:txBody>
      </p:sp>
      <p:sp>
        <p:nvSpPr>
          <p:cNvPr id="517" name="Br3"/>
          <p:cNvSpPr/>
          <p:nvPr/>
        </p:nvSpPr>
        <p:spPr>
          <a:xfrm>
            <a:off x="3683000" y="2114570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8" name="Vl3"/>
          <p:cNvSpPr txBox="1"/>
          <p:nvPr/>
        </p:nvSpPr>
        <p:spPr>
          <a:xfrm>
            <a:off x="4724400" y="2035713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C49600"/>
                </a:solidFill>
                <a:latin typeface="Calibri"/>
              </a:rPr>
              <a:t>{{NBB_4}}</a:t>
            </a:r>
          </a:p>
        </p:txBody>
      </p:sp>
      <p:sp>
        <p:nvSpPr>
          <p:cNvPr id="519" name="Rb4"/>
          <p:cNvSpPr/>
          <p:nvPr/>
        </p:nvSpPr>
        <p:spPr>
          <a:xfrm>
            <a:off x="280000" y="2364284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0" name="Lb4"/>
          <p:cNvSpPr txBox="1"/>
          <p:nvPr/>
        </p:nvSpPr>
        <p:spPr>
          <a:xfrm>
            <a:off x="280000" y="2364284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C49600"/>
                </a:solidFill>
                <a:latin typeface="Calibri"/>
              </a:rPr>
              <a:t>{{AG_5}}</a:t>
            </a:r>
          </a:p>
        </p:txBody>
      </p:sp>
      <p:sp>
        <p:nvSpPr>
          <p:cNvPr id="521" name="Br4"/>
          <p:cNvSpPr/>
          <p:nvPr/>
        </p:nvSpPr>
        <p:spPr>
          <a:xfrm>
            <a:off x="3683000" y="2443141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2" name="Vl4"/>
          <p:cNvSpPr txBox="1"/>
          <p:nvPr/>
        </p:nvSpPr>
        <p:spPr>
          <a:xfrm>
            <a:off x="4724400" y="2364284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C49600"/>
                </a:solidFill>
                <a:latin typeface="Calibri"/>
              </a:rPr>
              <a:t>{{NBB_5}}</a:t>
            </a:r>
          </a:p>
        </p:txBody>
      </p:sp>
      <p:sp>
        <p:nvSpPr>
          <p:cNvPr id="523" name="Lb5"/>
          <p:cNvSpPr txBox="1"/>
          <p:nvPr/>
        </p:nvSpPr>
        <p:spPr>
          <a:xfrm>
            <a:off x="280000" y="2692855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E87040"/>
                </a:solidFill>
                <a:latin typeface="Calibri"/>
              </a:rPr>
              <a:t>{{AG_6}}</a:t>
            </a:r>
          </a:p>
        </p:txBody>
      </p:sp>
      <p:sp>
        <p:nvSpPr>
          <p:cNvPr id="524" name="Br5"/>
          <p:cNvSpPr/>
          <p:nvPr/>
        </p:nvSpPr>
        <p:spPr>
          <a:xfrm>
            <a:off x="3683000" y="2771712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5" name="Vl5"/>
          <p:cNvSpPr txBox="1"/>
          <p:nvPr/>
        </p:nvSpPr>
        <p:spPr>
          <a:xfrm>
            <a:off x="4724400" y="2692855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E87040"/>
                </a:solidFill>
                <a:latin typeface="Calibri"/>
              </a:rPr>
              <a:t>{{NBB_6}}</a:t>
            </a:r>
          </a:p>
        </p:txBody>
      </p:sp>
      <p:sp>
        <p:nvSpPr>
          <p:cNvPr id="526" name="Rb6"/>
          <p:cNvSpPr/>
          <p:nvPr/>
        </p:nvSpPr>
        <p:spPr>
          <a:xfrm>
            <a:off x="280000" y="3021426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7" name="Lb6"/>
          <p:cNvSpPr txBox="1"/>
          <p:nvPr/>
        </p:nvSpPr>
        <p:spPr>
          <a:xfrm>
            <a:off x="280000" y="3021426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C49600"/>
                </a:solidFill>
                <a:latin typeface="Calibri"/>
              </a:rPr>
              <a:t>{{AG_7}}</a:t>
            </a:r>
          </a:p>
        </p:txBody>
      </p:sp>
      <p:sp>
        <p:nvSpPr>
          <p:cNvPr id="528" name="Br6"/>
          <p:cNvSpPr/>
          <p:nvPr/>
        </p:nvSpPr>
        <p:spPr>
          <a:xfrm>
            <a:off x="3683000" y="3100283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9" name="Vl6"/>
          <p:cNvSpPr txBox="1"/>
          <p:nvPr/>
        </p:nvSpPr>
        <p:spPr>
          <a:xfrm>
            <a:off x="4724400" y="3021426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C49600"/>
                </a:solidFill>
                <a:latin typeface="Calibri"/>
              </a:rPr>
              <a:t>{{NBB_7}}</a:t>
            </a:r>
          </a:p>
        </p:txBody>
      </p:sp>
      <p:sp>
        <p:nvSpPr>
          <p:cNvPr id="530" name="Lb7"/>
          <p:cNvSpPr txBox="1"/>
          <p:nvPr/>
        </p:nvSpPr>
        <p:spPr>
          <a:xfrm>
            <a:off x="280000" y="3349997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C49600"/>
                </a:solidFill>
                <a:latin typeface="Calibri"/>
              </a:rPr>
              <a:t>{{AG_8}}</a:t>
            </a:r>
          </a:p>
        </p:txBody>
      </p:sp>
      <p:sp>
        <p:nvSpPr>
          <p:cNvPr id="531" name="Br7"/>
          <p:cNvSpPr/>
          <p:nvPr/>
        </p:nvSpPr>
        <p:spPr>
          <a:xfrm>
            <a:off x="3683000" y="3428854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2" name="Vl7"/>
          <p:cNvSpPr txBox="1"/>
          <p:nvPr/>
        </p:nvSpPr>
        <p:spPr>
          <a:xfrm>
            <a:off x="4724400" y="3349997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C49600"/>
                </a:solidFill>
                <a:latin typeface="Calibri"/>
              </a:rPr>
              <a:t>{{NBB_8}}</a:t>
            </a:r>
          </a:p>
        </p:txBody>
      </p:sp>
      <p:sp>
        <p:nvSpPr>
          <p:cNvPr id="533" name="Rb8"/>
          <p:cNvSpPr/>
          <p:nvPr/>
        </p:nvSpPr>
        <p:spPr>
          <a:xfrm>
            <a:off x="280000" y="3678568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4" name="Lb8"/>
          <p:cNvSpPr txBox="1"/>
          <p:nvPr/>
        </p:nvSpPr>
        <p:spPr>
          <a:xfrm>
            <a:off x="280000" y="3678568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A030A8"/>
                </a:solidFill>
                <a:latin typeface="Calibri"/>
              </a:rPr>
              <a:t>{{AG_9}}</a:t>
            </a:r>
          </a:p>
        </p:txBody>
      </p:sp>
      <p:sp>
        <p:nvSpPr>
          <p:cNvPr id="535" name="Br8"/>
          <p:cNvSpPr/>
          <p:nvPr/>
        </p:nvSpPr>
        <p:spPr>
          <a:xfrm>
            <a:off x="3683000" y="3757425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A030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6" name="Vl8"/>
          <p:cNvSpPr txBox="1"/>
          <p:nvPr/>
        </p:nvSpPr>
        <p:spPr>
          <a:xfrm>
            <a:off x="4724400" y="3678568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A030A8"/>
                </a:solidFill>
                <a:latin typeface="Calibri"/>
              </a:rPr>
              <a:t>{{NBB_9}}</a:t>
            </a:r>
          </a:p>
        </p:txBody>
      </p:sp>
      <p:sp>
        <p:nvSpPr>
          <p:cNvPr id="537" name="Lb9"/>
          <p:cNvSpPr txBox="1"/>
          <p:nvPr/>
        </p:nvSpPr>
        <p:spPr>
          <a:xfrm>
            <a:off x="280000" y="4007139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3E7A30"/>
                </a:solidFill>
                <a:latin typeface="Calibri"/>
              </a:rPr>
              <a:t>{{AG_10}}</a:t>
            </a:r>
          </a:p>
        </p:txBody>
      </p:sp>
      <p:sp>
        <p:nvSpPr>
          <p:cNvPr id="538" name="Br9"/>
          <p:cNvSpPr/>
          <p:nvPr/>
        </p:nvSpPr>
        <p:spPr>
          <a:xfrm>
            <a:off x="3683000" y="4085996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9" name="Vl9"/>
          <p:cNvSpPr txBox="1"/>
          <p:nvPr/>
        </p:nvSpPr>
        <p:spPr>
          <a:xfrm>
            <a:off x="4724400" y="4007139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3E7A30"/>
                </a:solidFill>
                <a:latin typeface="Calibri"/>
              </a:rPr>
              <a:t>{{NBB_10}}</a:t>
            </a:r>
          </a:p>
        </p:txBody>
      </p:sp>
      <p:sp>
        <p:nvSpPr>
          <p:cNvPr id="540" name="Rb10"/>
          <p:cNvSpPr/>
          <p:nvPr/>
        </p:nvSpPr>
        <p:spPr>
          <a:xfrm>
            <a:off x="280000" y="4335710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1" name="Lb10"/>
          <p:cNvSpPr txBox="1"/>
          <p:nvPr/>
        </p:nvSpPr>
        <p:spPr>
          <a:xfrm>
            <a:off x="280000" y="4335710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0" dirty="0">
                <a:solidFill>
                  <a:srgbClr val="6E30B8"/>
                </a:solidFill>
                <a:latin typeface="Calibri"/>
              </a:rPr>
              <a:t>{{AG_11}}</a:t>
            </a:r>
          </a:p>
        </p:txBody>
      </p:sp>
      <p:sp>
        <p:nvSpPr>
          <p:cNvPr id="542" name="Vl10"/>
          <p:cNvSpPr txBox="1"/>
          <p:nvPr/>
        </p:nvSpPr>
        <p:spPr>
          <a:xfrm>
            <a:off x="3733800" y="4335710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Calibri"/>
              </a:rPr>
              <a:t>{{NBB_11}}</a:t>
            </a:r>
          </a:p>
        </p:txBody>
      </p:sp>
      <p:sp>
        <p:nvSpPr>
          <p:cNvPr id="543" name="Lb11"/>
          <p:cNvSpPr txBox="1"/>
          <p:nvPr/>
        </p:nvSpPr>
        <p:spPr>
          <a:xfrm>
            <a:off x="280000" y="4664281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0" dirty="0">
                <a:solidFill>
                  <a:srgbClr val="A030A8"/>
                </a:solidFill>
                <a:latin typeface="Calibri"/>
              </a:rPr>
              <a:t>{{AG_12}}</a:t>
            </a:r>
          </a:p>
        </p:txBody>
      </p:sp>
      <p:sp>
        <p:nvSpPr>
          <p:cNvPr id="544" name="Br11"/>
          <p:cNvSpPr/>
          <p:nvPr/>
        </p:nvSpPr>
        <p:spPr>
          <a:xfrm>
            <a:off x="2667000" y="4743138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A030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5" name="Vl11"/>
          <p:cNvSpPr txBox="1"/>
          <p:nvPr/>
        </p:nvSpPr>
        <p:spPr>
          <a:xfrm>
            <a:off x="1981200" y="4664281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A030A8"/>
                </a:solidFill>
                <a:latin typeface="Calibri"/>
              </a:rPr>
              <a:t>{{NBB_12}}</a:t>
            </a:r>
          </a:p>
        </p:txBody>
      </p:sp>
      <p:sp>
        <p:nvSpPr>
          <p:cNvPr id="546" name="Rb12"/>
          <p:cNvSpPr/>
          <p:nvPr/>
        </p:nvSpPr>
        <p:spPr>
          <a:xfrm>
            <a:off x="280000" y="4992852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7" name="Lb12"/>
          <p:cNvSpPr txBox="1"/>
          <p:nvPr/>
        </p:nvSpPr>
        <p:spPr>
          <a:xfrm>
            <a:off x="280000" y="4992852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0" dirty="0">
                <a:solidFill>
                  <a:srgbClr val="3E7A30"/>
                </a:solidFill>
                <a:latin typeface="Calibri"/>
              </a:rPr>
              <a:t>{{AG_13}}</a:t>
            </a:r>
          </a:p>
        </p:txBody>
      </p:sp>
      <p:sp>
        <p:nvSpPr>
          <p:cNvPr id="548" name="Br12"/>
          <p:cNvSpPr/>
          <p:nvPr/>
        </p:nvSpPr>
        <p:spPr>
          <a:xfrm>
            <a:off x="2667000" y="5071709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9" name="Vl12"/>
          <p:cNvSpPr txBox="1"/>
          <p:nvPr/>
        </p:nvSpPr>
        <p:spPr>
          <a:xfrm>
            <a:off x="1981200" y="4992852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3E7A30"/>
                </a:solidFill>
                <a:latin typeface="Calibri"/>
              </a:rPr>
              <a:t>{{NBB_13}}</a:t>
            </a:r>
          </a:p>
        </p:txBody>
      </p:sp>
      <p:sp>
        <p:nvSpPr>
          <p:cNvPr id="550" name="Lb13"/>
          <p:cNvSpPr txBox="1"/>
          <p:nvPr/>
        </p:nvSpPr>
        <p:spPr>
          <a:xfrm>
            <a:off x="280000" y="5321423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0" dirty="0">
                <a:solidFill>
                  <a:srgbClr val="A030A8"/>
                </a:solidFill>
                <a:latin typeface="Calibri"/>
              </a:rPr>
              <a:t>{{AG_14}}</a:t>
            </a:r>
          </a:p>
        </p:txBody>
      </p:sp>
      <p:sp>
        <p:nvSpPr>
          <p:cNvPr id="551" name="Br13"/>
          <p:cNvSpPr/>
          <p:nvPr/>
        </p:nvSpPr>
        <p:spPr>
          <a:xfrm>
            <a:off x="2667000" y="5400280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A030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2" name="Vl13"/>
          <p:cNvSpPr txBox="1"/>
          <p:nvPr/>
        </p:nvSpPr>
        <p:spPr>
          <a:xfrm>
            <a:off x="1981200" y="5321423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A030A8"/>
                </a:solidFill>
                <a:latin typeface="Calibri"/>
              </a:rPr>
              <a:t>{{NBB_14}}</a:t>
            </a:r>
          </a:p>
        </p:txBody>
      </p:sp>
      <p:sp>
        <p:nvSpPr>
          <p:cNvPr id="553" name="HBgAll"/>
          <p:cNvSpPr/>
          <p:nvPr/>
        </p:nvSpPr>
        <p:spPr>
          <a:xfrm>
            <a:off x="280000" y="5730000"/>
            <a:ext cx="6999675" cy="310000"/>
          </a:xfrm>
          <a:prstGeom prst="roundRect">
            <a:avLst>
              <a:gd name="adj" fmla="val 8000"/>
            </a:avLst>
          </a:prstGeom>
          <a:solidFill>
            <a:srgbClr val="2E4D4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4" name="HBgW"/>
          <p:cNvSpPr/>
          <p:nvPr/>
        </p:nvSpPr>
        <p:spPr>
          <a:xfrm>
            <a:off x="1422400" y="5730000"/>
            <a:ext cx="2095500" cy="310000"/>
          </a:xfrm>
          <a:prstGeom prst="roundRect">
            <a:avLst>
              <a:gd name="adj" fmla="val 8000"/>
            </a:avLst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5" name="HBgD"/>
          <p:cNvSpPr/>
          <p:nvPr/>
        </p:nvSpPr>
        <p:spPr>
          <a:xfrm>
            <a:off x="3517900" y="5730000"/>
            <a:ext cx="2095500" cy="310000"/>
          </a:xfrm>
          <a:prstGeom prst="roundRect">
            <a:avLst>
              <a:gd name="adj" fmla="val 8000"/>
            </a:avLst>
          </a:prstGeom>
          <a:solidFill>
            <a:srgbClr val="7D3E3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6" name="Hdr0"/>
          <p:cNvSpPr txBox="1"/>
          <p:nvPr/>
        </p:nvSpPr>
        <p:spPr>
          <a:xfrm>
            <a:off x="279400" y="5730000"/>
            <a:ext cx="11430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950" b="1" dirty="0">
                <a:solidFill>
                  <a:srgbClr val="FFFFFF"/>
                </a:solidFill>
                <a:latin typeface="Calibri"/>
              </a:rPr>
              <a:t>Agency</a:t>
            </a:r>
          </a:p>
        </p:txBody>
      </p:sp>
      <p:sp>
        <p:nvSpPr>
          <p:cNvPr id="557" name="Hdr1"/>
          <p:cNvSpPr txBox="1"/>
          <p:nvPr/>
        </p:nvSpPr>
        <p:spPr>
          <a:xfrm>
            <a:off x="1422400" y="5730000"/>
            <a:ext cx="13970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950" b="1" dirty="0">
                <a:solidFill>
                  <a:srgbClr val="FFFFFF"/>
                </a:solidFill>
                <a:latin typeface="Calibri"/>
              </a:rPr>
              <a:t>Top wins  (&gt;3 $m)</a:t>
            </a:r>
          </a:p>
        </p:txBody>
      </p:sp>
      <p:sp>
        <p:nvSpPr>
          <p:cNvPr id="558" name="Hdr2"/>
          <p:cNvSpPr txBox="1"/>
          <p:nvPr/>
        </p:nvSpPr>
        <p:spPr>
          <a:xfrm>
            <a:off x="2819400" y="5730000"/>
            <a:ext cx="6985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ctr"/>
            <a:r>
              <a:rPr lang="en-US" sz="950" b="1" dirty="0">
                <a:solidFill>
                  <a:srgbClr val="FFFFFF"/>
                </a:solidFill>
                <a:latin typeface="Calibri"/>
              </a:rPr>
              <a:t>Wins
$m</a:t>
            </a:r>
          </a:p>
        </p:txBody>
      </p:sp>
      <p:sp>
        <p:nvSpPr>
          <p:cNvPr id="559" name="Hdr3"/>
          <p:cNvSpPr txBox="1"/>
          <p:nvPr/>
        </p:nvSpPr>
        <p:spPr>
          <a:xfrm>
            <a:off x="3517900" y="5730000"/>
            <a:ext cx="13970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950" b="1" dirty="0">
                <a:solidFill>
                  <a:srgbClr val="FFFFFF"/>
                </a:solidFill>
                <a:latin typeface="Calibri"/>
              </a:rPr>
              <a:t>Top départs  (&gt;3 $m)</a:t>
            </a:r>
          </a:p>
        </p:txBody>
      </p:sp>
      <p:sp>
        <p:nvSpPr>
          <p:cNvPr id="560" name="Hdr4"/>
          <p:cNvSpPr txBox="1"/>
          <p:nvPr/>
        </p:nvSpPr>
        <p:spPr>
          <a:xfrm>
            <a:off x="4914900" y="5730000"/>
            <a:ext cx="6985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ctr"/>
            <a:r>
              <a:rPr lang="en-US" sz="950" b="1" dirty="0">
                <a:solidFill>
                  <a:srgbClr val="FFFFFF"/>
                </a:solidFill>
                <a:latin typeface="Calibri"/>
              </a:rPr>
              <a:t>Dép.
$m</a:t>
            </a:r>
          </a:p>
        </p:txBody>
      </p:sp>
      <p:sp>
        <p:nvSpPr>
          <p:cNvPr id="561" name="RowBg0"/>
          <p:cNvSpPr/>
          <p:nvPr/>
        </p:nvSpPr>
        <p:spPr>
          <a:xfrm>
            <a:off x="280000" y="6040000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2" name="WTint0"/>
          <p:cNvSpPr/>
          <p:nvPr/>
        </p:nvSpPr>
        <p:spPr>
          <a:xfrm>
            <a:off x="1422400" y="6040000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3" name="DTint0"/>
          <p:cNvSpPr/>
          <p:nvPr/>
        </p:nvSpPr>
        <p:spPr>
          <a:xfrm>
            <a:off x="3517900" y="6040000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4" name="R0_0"/>
          <p:cNvSpPr txBox="1"/>
          <p:nvPr/>
        </p:nvSpPr>
        <p:spPr>
          <a:xfrm>
            <a:off x="279400" y="6040000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{{RANK_1}}  {{AG_1}}</a:t>
            </a:r>
          </a:p>
        </p:txBody>
      </p:sp>
      <p:sp>
        <p:nvSpPr>
          <p:cNvPr id="565" name="R1_0"/>
          <p:cNvSpPr txBox="1"/>
          <p:nvPr/>
        </p:nvSpPr>
        <p:spPr>
          <a:xfrm>
            <a:off x="1422400" y="6040000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{{TOPWINS_1}}</a:t>
            </a:r>
          </a:p>
        </p:txBody>
      </p:sp>
      <p:sp>
        <p:nvSpPr>
          <p:cNvPr id="566" name="R2_0"/>
          <p:cNvSpPr txBox="1"/>
          <p:nvPr/>
        </p:nvSpPr>
        <p:spPr>
          <a:xfrm>
            <a:off x="2819400" y="6040000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{{WIN_1}}</a:t>
            </a:r>
          </a:p>
        </p:txBody>
      </p:sp>
      <p:sp>
        <p:nvSpPr>
          <p:cNvPr id="567" name="R3_0"/>
          <p:cNvSpPr txBox="1"/>
          <p:nvPr/>
        </p:nvSpPr>
        <p:spPr>
          <a:xfrm>
            <a:off x="3517900" y="6040000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{{TOPDEPS_1}}</a:t>
            </a:r>
          </a:p>
        </p:txBody>
      </p:sp>
      <p:sp>
        <p:nvSpPr>
          <p:cNvPr id="568" name="R4_0"/>
          <p:cNvSpPr txBox="1"/>
          <p:nvPr/>
        </p:nvSpPr>
        <p:spPr>
          <a:xfrm>
            <a:off x="4914900" y="6040000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{{DEP_1}}</a:t>
            </a:r>
          </a:p>
        </p:txBody>
      </p:sp>
      <p:sp>
        <p:nvSpPr>
          <p:cNvPr id="569" name="RowBg1"/>
          <p:cNvSpPr/>
          <p:nvPr/>
        </p:nvSpPr>
        <p:spPr>
          <a:xfrm>
            <a:off x="280000" y="6329957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0" name="WTint1"/>
          <p:cNvSpPr/>
          <p:nvPr/>
        </p:nvSpPr>
        <p:spPr>
          <a:xfrm>
            <a:off x="1422400" y="6329957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1" name="DTint1"/>
          <p:cNvSpPr/>
          <p:nvPr/>
        </p:nvSpPr>
        <p:spPr>
          <a:xfrm>
            <a:off x="3517900" y="6329957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2" name="RL1"/>
          <p:cNvSpPr>
            <a:spLocks noGrp="1"/>
          </p:cNvSpPr>
          <p:nvPr/>
        </p:nvSpPr>
        <p:spPr>
          <a:xfrm>
            <a:off x="280000" y="6329957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73" name="R0_1"/>
          <p:cNvSpPr txBox="1"/>
          <p:nvPr/>
        </p:nvSpPr>
        <p:spPr>
          <a:xfrm>
            <a:off x="279400" y="6329957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{{RANK_2}}  {{AG_2}}</a:t>
            </a:r>
          </a:p>
        </p:txBody>
      </p:sp>
      <p:sp>
        <p:nvSpPr>
          <p:cNvPr id="574" name="R1_1"/>
          <p:cNvSpPr txBox="1"/>
          <p:nvPr/>
        </p:nvSpPr>
        <p:spPr>
          <a:xfrm>
            <a:off x="1422400" y="6329957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{{TOPWINS_2}}</a:t>
            </a:r>
          </a:p>
        </p:txBody>
      </p:sp>
      <p:sp>
        <p:nvSpPr>
          <p:cNvPr id="575" name="R2_1"/>
          <p:cNvSpPr txBox="1"/>
          <p:nvPr/>
        </p:nvSpPr>
        <p:spPr>
          <a:xfrm>
            <a:off x="2819400" y="6329957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{{WIN_2}}</a:t>
            </a:r>
          </a:p>
        </p:txBody>
      </p:sp>
      <p:sp>
        <p:nvSpPr>
          <p:cNvPr id="576" name="R4_1"/>
          <p:cNvSpPr txBox="1"/>
          <p:nvPr/>
        </p:nvSpPr>
        <p:spPr>
          <a:xfrm>
            <a:off x="4914900" y="6329957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{{DEP_2}}</a:t>
            </a:r>
          </a:p>
        </p:txBody>
      </p:sp>
      <p:sp>
        <p:nvSpPr>
          <p:cNvPr id="577" name="RowBg2"/>
          <p:cNvSpPr/>
          <p:nvPr/>
        </p:nvSpPr>
        <p:spPr>
          <a:xfrm>
            <a:off x="280000" y="6619914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8" name="WTint2"/>
          <p:cNvSpPr/>
          <p:nvPr/>
        </p:nvSpPr>
        <p:spPr>
          <a:xfrm>
            <a:off x="1422400" y="6619914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9" name="DTint2"/>
          <p:cNvSpPr/>
          <p:nvPr/>
        </p:nvSpPr>
        <p:spPr>
          <a:xfrm>
            <a:off x="3517900" y="6619914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0" name="RL2"/>
          <p:cNvSpPr>
            <a:spLocks noGrp="1"/>
          </p:cNvSpPr>
          <p:nvPr/>
        </p:nvSpPr>
        <p:spPr>
          <a:xfrm>
            <a:off x="280000" y="6619914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81" name="R0_2"/>
          <p:cNvSpPr txBox="1"/>
          <p:nvPr/>
        </p:nvSpPr>
        <p:spPr>
          <a:xfrm>
            <a:off x="279400" y="6619914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{{RANK_3}}  {{AG_3}}</a:t>
            </a:r>
          </a:p>
        </p:txBody>
      </p:sp>
      <p:sp>
        <p:nvSpPr>
          <p:cNvPr id="582" name="R1_2"/>
          <p:cNvSpPr txBox="1"/>
          <p:nvPr/>
        </p:nvSpPr>
        <p:spPr>
          <a:xfrm>
            <a:off x="1422400" y="6619914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{{TOPWINS_3}}</a:t>
            </a:r>
          </a:p>
        </p:txBody>
      </p:sp>
      <p:sp>
        <p:nvSpPr>
          <p:cNvPr id="583" name="R2_2"/>
          <p:cNvSpPr txBox="1"/>
          <p:nvPr/>
        </p:nvSpPr>
        <p:spPr>
          <a:xfrm>
            <a:off x="2819400" y="6619914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{{WIN_3}}</a:t>
            </a:r>
          </a:p>
        </p:txBody>
      </p:sp>
      <p:sp>
        <p:nvSpPr>
          <p:cNvPr id="584" name="R4_2"/>
          <p:cNvSpPr txBox="1"/>
          <p:nvPr/>
        </p:nvSpPr>
        <p:spPr>
          <a:xfrm>
            <a:off x="4914900" y="6619914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{{DEP_3}}</a:t>
            </a:r>
          </a:p>
        </p:txBody>
      </p:sp>
      <p:sp>
        <p:nvSpPr>
          <p:cNvPr id="585" name="RowBg3"/>
          <p:cNvSpPr/>
          <p:nvPr/>
        </p:nvSpPr>
        <p:spPr>
          <a:xfrm>
            <a:off x="280000" y="6909871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6" name="WTint3"/>
          <p:cNvSpPr/>
          <p:nvPr/>
        </p:nvSpPr>
        <p:spPr>
          <a:xfrm>
            <a:off x="1422400" y="6909871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7" name="DTint3"/>
          <p:cNvSpPr/>
          <p:nvPr/>
        </p:nvSpPr>
        <p:spPr>
          <a:xfrm>
            <a:off x="3517900" y="6909871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8" name="RL3"/>
          <p:cNvSpPr>
            <a:spLocks noGrp="1"/>
          </p:cNvSpPr>
          <p:nvPr/>
        </p:nvSpPr>
        <p:spPr>
          <a:xfrm>
            <a:off x="280000" y="6909871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89" name="R0_3"/>
          <p:cNvSpPr txBox="1"/>
          <p:nvPr/>
        </p:nvSpPr>
        <p:spPr>
          <a:xfrm>
            <a:off x="279400" y="6909871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{{RANK_4}}  {{AG_4}}</a:t>
            </a:r>
          </a:p>
        </p:txBody>
      </p:sp>
      <p:sp>
        <p:nvSpPr>
          <p:cNvPr id="590" name="R1_3"/>
          <p:cNvSpPr txBox="1"/>
          <p:nvPr/>
        </p:nvSpPr>
        <p:spPr>
          <a:xfrm>
            <a:off x="1422400" y="6909871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{{TOPWINS_4}}</a:t>
            </a:r>
          </a:p>
        </p:txBody>
      </p:sp>
      <p:sp>
        <p:nvSpPr>
          <p:cNvPr id="591" name="R2_3"/>
          <p:cNvSpPr txBox="1"/>
          <p:nvPr/>
        </p:nvSpPr>
        <p:spPr>
          <a:xfrm>
            <a:off x="2819400" y="6909871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{{WIN_4}}</a:t>
            </a:r>
          </a:p>
        </p:txBody>
      </p:sp>
      <p:sp>
        <p:nvSpPr>
          <p:cNvPr id="592" name="R4_3"/>
          <p:cNvSpPr txBox="1"/>
          <p:nvPr/>
        </p:nvSpPr>
        <p:spPr>
          <a:xfrm>
            <a:off x="4914900" y="6909871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{{DEP_4}}</a:t>
            </a:r>
          </a:p>
        </p:txBody>
      </p:sp>
      <p:sp>
        <p:nvSpPr>
          <p:cNvPr id="593" name="RowBg4"/>
          <p:cNvSpPr/>
          <p:nvPr/>
        </p:nvSpPr>
        <p:spPr>
          <a:xfrm>
            <a:off x="280000" y="7199828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4" name="WTint4"/>
          <p:cNvSpPr/>
          <p:nvPr/>
        </p:nvSpPr>
        <p:spPr>
          <a:xfrm>
            <a:off x="1422400" y="7199828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5" name="DTint4"/>
          <p:cNvSpPr/>
          <p:nvPr/>
        </p:nvSpPr>
        <p:spPr>
          <a:xfrm>
            <a:off x="3517900" y="7199828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6" name="RL4"/>
          <p:cNvSpPr>
            <a:spLocks noGrp="1"/>
          </p:cNvSpPr>
          <p:nvPr/>
        </p:nvSpPr>
        <p:spPr>
          <a:xfrm>
            <a:off x="280000" y="7199828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97" name="R0_4"/>
          <p:cNvSpPr txBox="1"/>
          <p:nvPr/>
        </p:nvSpPr>
        <p:spPr>
          <a:xfrm>
            <a:off x="279400" y="7199828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{{RANK_5}}  {{AG_5}}</a:t>
            </a:r>
          </a:p>
        </p:txBody>
      </p:sp>
      <p:sp>
        <p:nvSpPr>
          <p:cNvPr id="598" name="R1_4"/>
          <p:cNvSpPr txBox="1"/>
          <p:nvPr/>
        </p:nvSpPr>
        <p:spPr>
          <a:xfrm>
            <a:off x="1422400" y="7199828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{{TOPWINS_5}}</a:t>
            </a:r>
          </a:p>
        </p:txBody>
      </p:sp>
      <p:sp>
        <p:nvSpPr>
          <p:cNvPr id="599" name="R2_4"/>
          <p:cNvSpPr txBox="1"/>
          <p:nvPr/>
        </p:nvSpPr>
        <p:spPr>
          <a:xfrm>
            <a:off x="2819400" y="7199828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{{WIN_5}}</a:t>
            </a:r>
          </a:p>
        </p:txBody>
      </p:sp>
      <p:sp>
        <p:nvSpPr>
          <p:cNvPr id="600" name="R3_4"/>
          <p:cNvSpPr txBox="1"/>
          <p:nvPr/>
        </p:nvSpPr>
        <p:spPr>
          <a:xfrm>
            <a:off x="3517900" y="7199828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{{TOPDEPS_5}}</a:t>
            </a:r>
          </a:p>
        </p:txBody>
      </p:sp>
      <p:sp>
        <p:nvSpPr>
          <p:cNvPr id="601" name="R4_4"/>
          <p:cNvSpPr txBox="1"/>
          <p:nvPr/>
        </p:nvSpPr>
        <p:spPr>
          <a:xfrm>
            <a:off x="4914900" y="7199828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{{DEP_5}}</a:t>
            </a:r>
          </a:p>
        </p:txBody>
      </p:sp>
      <p:sp>
        <p:nvSpPr>
          <p:cNvPr id="602" name="RowBg5"/>
          <p:cNvSpPr/>
          <p:nvPr/>
        </p:nvSpPr>
        <p:spPr>
          <a:xfrm>
            <a:off x="280000" y="7489785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3" name="WTint5"/>
          <p:cNvSpPr/>
          <p:nvPr/>
        </p:nvSpPr>
        <p:spPr>
          <a:xfrm>
            <a:off x="1422400" y="7489785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4" name="DTint5"/>
          <p:cNvSpPr/>
          <p:nvPr/>
        </p:nvSpPr>
        <p:spPr>
          <a:xfrm>
            <a:off x="3517900" y="7489785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5" name="RL5"/>
          <p:cNvSpPr>
            <a:spLocks noGrp="1"/>
          </p:cNvSpPr>
          <p:nvPr/>
        </p:nvSpPr>
        <p:spPr>
          <a:xfrm>
            <a:off x="280000" y="7489785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6" name="R0_5"/>
          <p:cNvSpPr txBox="1"/>
          <p:nvPr/>
        </p:nvSpPr>
        <p:spPr>
          <a:xfrm>
            <a:off x="279400" y="7489785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{{RANK_6}}  {{AG_6}}</a:t>
            </a:r>
          </a:p>
        </p:txBody>
      </p:sp>
      <p:sp>
        <p:nvSpPr>
          <p:cNvPr id="607" name="R1_5"/>
          <p:cNvSpPr txBox="1"/>
          <p:nvPr/>
        </p:nvSpPr>
        <p:spPr>
          <a:xfrm>
            <a:off x="1422400" y="7489785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{{TOPWINS_6}}</a:t>
            </a:r>
          </a:p>
        </p:txBody>
      </p:sp>
      <p:sp>
        <p:nvSpPr>
          <p:cNvPr id="608" name="R2_5"/>
          <p:cNvSpPr txBox="1"/>
          <p:nvPr/>
        </p:nvSpPr>
        <p:spPr>
          <a:xfrm>
            <a:off x="2819400" y="7489785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{{WIN_6}}</a:t>
            </a:r>
          </a:p>
        </p:txBody>
      </p:sp>
      <p:sp>
        <p:nvSpPr>
          <p:cNvPr id="609" name="R3_5"/>
          <p:cNvSpPr txBox="1"/>
          <p:nvPr/>
        </p:nvSpPr>
        <p:spPr>
          <a:xfrm>
            <a:off x="3517900" y="7489785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{{TOPDEPS_6}}</a:t>
            </a:r>
          </a:p>
        </p:txBody>
      </p:sp>
      <p:sp>
        <p:nvSpPr>
          <p:cNvPr id="610" name="R4_5"/>
          <p:cNvSpPr txBox="1"/>
          <p:nvPr/>
        </p:nvSpPr>
        <p:spPr>
          <a:xfrm>
            <a:off x="4914900" y="7489785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{{DEP_6}}</a:t>
            </a:r>
          </a:p>
        </p:txBody>
      </p:sp>
      <p:sp>
        <p:nvSpPr>
          <p:cNvPr id="611" name="RowBg6"/>
          <p:cNvSpPr/>
          <p:nvPr/>
        </p:nvSpPr>
        <p:spPr>
          <a:xfrm>
            <a:off x="280000" y="7779742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2" name="WTint6"/>
          <p:cNvSpPr/>
          <p:nvPr/>
        </p:nvSpPr>
        <p:spPr>
          <a:xfrm>
            <a:off x="1422400" y="7779742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3" name="DTint6"/>
          <p:cNvSpPr/>
          <p:nvPr/>
        </p:nvSpPr>
        <p:spPr>
          <a:xfrm>
            <a:off x="3517900" y="7779742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4" name="RL6"/>
          <p:cNvSpPr>
            <a:spLocks noGrp="1"/>
          </p:cNvSpPr>
          <p:nvPr/>
        </p:nvSpPr>
        <p:spPr>
          <a:xfrm>
            <a:off x="280000" y="7779742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15" name="R0_6"/>
          <p:cNvSpPr txBox="1"/>
          <p:nvPr/>
        </p:nvSpPr>
        <p:spPr>
          <a:xfrm>
            <a:off x="279400" y="7779742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{{RANK_7}}  {{AG_7}}</a:t>
            </a:r>
          </a:p>
        </p:txBody>
      </p:sp>
      <p:sp>
        <p:nvSpPr>
          <p:cNvPr id="616" name="R1_6"/>
          <p:cNvSpPr txBox="1"/>
          <p:nvPr/>
        </p:nvSpPr>
        <p:spPr>
          <a:xfrm>
            <a:off x="1422400" y="7779742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{{TOPWINS_7}}</a:t>
            </a:r>
          </a:p>
        </p:txBody>
      </p:sp>
      <p:sp>
        <p:nvSpPr>
          <p:cNvPr id="617" name="R2_6"/>
          <p:cNvSpPr txBox="1"/>
          <p:nvPr/>
        </p:nvSpPr>
        <p:spPr>
          <a:xfrm>
            <a:off x="2819400" y="7779742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{{WIN_7}}</a:t>
            </a:r>
          </a:p>
        </p:txBody>
      </p:sp>
      <p:sp>
        <p:nvSpPr>
          <p:cNvPr id="618" name="R3_6"/>
          <p:cNvSpPr txBox="1"/>
          <p:nvPr/>
        </p:nvSpPr>
        <p:spPr>
          <a:xfrm>
            <a:off x="3517900" y="7779742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{{TOPDEPS_7}}</a:t>
            </a:r>
          </a:p>
        </p:txBody>
      </p:sp>
      <p:sp>
        <p:nvSpPr>
          <p:cNvPr id="619" name="R4_6"/>
          <p:cNvSpPr txBox="1"/>
          <p:nvPr/>
        </p:nvSpPr>
        <p:spPr>
          <a:xfrm>
            <a:off x="4914900" y="7779742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{{DEP_7}}</a:t>
            </a:r>
          </a:p>
        </p:txBody>
      </p:sp>
      <p:sp>
        <p:nvSpPr>
          <p:cNvPr id="620" name="RowBg7"/>
          <p:cNvSpPr/>
          <p:nvPr/>
        </p:nvSpPr>
        <p:spPr>
          <a:xfrm>
            <a:off x="280000" y="8069699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21" name="WTint7"/>
          <p:cNvSpPr/>
          <p:nvPr/>
        </p:nvSpPr>
        <p:spPr>
          <a:xfrm>
            <a:off x="1422400" y="8069699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22" name="DTint7"/>
          <p:cNvSpPr/>
          <p:nvPr/>
        </p:nvSpPr>
        <p:spPr>
          <a:xfrm>
            <a:off x="3517900" y="8069699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23" name="RL7"/>
          <p:cNvSpPr>
            <a:spLocks noGrp="1"/>
          </p:cNvSpPr>
          <p:nvPr/>
        </p:nvSpPr>
        <p:spPr>
          <a:xfrm>
            <a:off x="280000" y="8069699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24" name="R0_7"/>
          <p:cNvSpPr txBox="1"/>
          <p:nvPr/>
        </p:nvSpPr>
        <p:spPr>
          <a:xfrm>
            <a:off x="279400" y="8069699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{{RANK_8}}  {{AG_8}}</a:t>
            </a:r>
          </a:p>
        </p:txBody>
      </p:sp>
      <p:sp>
        <p:nvSpPr>
          <p:cNvPr id="625" name="R1_7"/>
          <p:cNvSpPr txBox="1"/>
          <p:nvPr/>
        </p:nvSpPr>
        <p:spPr>
          <a:xfrm>
            <a:off x="1422400" y="8069699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{{TOPWINS_8}}</a:t>
            </a:r>
          </a:p>
        </p:txBody>
      </p:sp>
      <p:sp>
        <p:nvSpPr>
          <p:cNvPr id="626" name="R2_7"/>
          <p:cNvSpPr txBox="1"/>
          <p:nvPr/>
        </p:nvSpPr>
        <p:spPr>
          <a:xfrm>
            <a:off x="2819400" y="8069699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{{WIN_8}}</a:t>
            </a:r>
          </a:p>
        </p:txBody>
      </p:sp>
      <p:sp>
        <p:nvSpPr>
          <p:cNvPr id="627" name="R3_7"/>
          <p:cNvSpPr txBox="1"/>
          <p:nvPr/>
        </p:nvSpPr>
        <p:spPr>
          <a:xfrm>
            <a:off x="3517900" y="8069699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{{TOPDEPS_8}}</a:t>
            </a:r>
          </a:p>
        </p:txBody>
      </p:sp>
      <p:sp>
        <p:nvSpPr>
          <p:cNvPr id="628" name="R4_7"/>
          <p:cNvSpPr txBox="1"/>
          <p:nvPr/>
        </p:nvSpPr>
        <p:spPr>
          <a:xfrm>
            <a:off x="4914900" y="8069699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{{DEP_8}}</a:t>
            </a:r>
          </a:p>
        </p:txBody>
      </p:sp>
      <p:sp>
        <p:nvSpPr>
          <p:cNvPr id="629" name="RowBg8"/>
          <p:cNvSpPr/>
          <p:nvPr/>
        </p:nvSpPr>
        <p:spPr>
          <a:xfrm>
            <a:off x="280000" y="8359656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30" name="WTint8"/>
          <p:cNvSpPr/>
          <p:nvPr/>
        </p:nvSpPr>
        <p:spPr>
          <a:xfrm>
            <a:off x="1422400" y="8359656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31" name="DTint8"/>
          <p:cNvSpPr/>
          <p:nvPr/>
        </p:nvSpPr>
        <p:spPr>
          <a:xfrm>
            <a:off x="3517900" y="8359656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32" name="RL8"/>
          <p:cNvSpPr>
            <a:spLocks noGrp="1"/>
          </p:cNvSpPr>
          <p:nvPr/>
        </p:nvSpPr>
        <p:spPr>
          <a:xfrm>
            <a:off x="280000" y="8359656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33" name="R0_8"/>
          <p:cNvSpPr txBox="1"/>
          <p:nvPr/>
        </p:nvSpPr>
        <p:spPr>
          <a:xfrm>
            <a:off x="279400" y="8359656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{{RANK_9}}  {{AG_9}}</a:t>
            </a:r>
          </a:p>
        </p:txBody>
      </p:sp>
      <p:sp>
        <p:nvSpPr>
          <p:cNvPr id="634" name="R1_8"/>
          <p:cNvSpPr txBox="1"/>
          <p:nvPr/>
        </p:nvSpPr>
        <p:spPr>
          <a:xfrm>
            <a:off x="1422400" y="8359656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{{TOPWINS_9}}</a:t>
            </a:r>
          </a:p>
        </p:txBody>
      </p:sp>
      <p:sp>
        <p:nvSpPr>
          <p:cNvPr id="635" name="R2_8"/>
          <p:cNvSpPr txBox="1"/>
          <p:nvPr/>
        </p:nvSpPr>
        <p:spPr>
          <a:xfrm>
            <a:off x="2819400" y="8359656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{{WIN_9}}</a:t>
            </a:r>
          </a:p>
        </p:txBody>
      </p:sp>
      <p:sp>
        <p:nvSpPr>
          <p:cNvPr id="636" name="R3_8"/>
          <p:cNvSpPr txBox="1"/>
          <p:nvPr/>
        </p:nvSpPr>
        <p:spPr>
          <a:xfrm>
            <a:off x="3517900" y="8359656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{{TOPDEPS_9}}</a:t>
            </a:r>
          </a:p>
        </p:txBody>
      </p:sp>
      <p:sp>
        <p:nvSpPr>
          <p:cNvPr id="637" name="R4_8"/>
          <p:cNvSpPr txBox="1"/>
          <p:nvPr/>
        </p:nvSpPr>
        <p:spPr>
          <a:xfrm>
            <a:off x="4914900" y="8359656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{{DEP_9}}</a:t>
            </a:r>
          </a:p>
        </p:txBody>
      </p:sp>
      <p:sp>
        <p:nvSpPr>
          <p:cNvPr id="638" name="RowBg9"/>
          <p:cNvSpPr/>
          <p:nvPr/>
        </p:nvSpPr>
        <p:spPr>
          <a:xfrm>
            <a:off x="280000" y="8649613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39" name="WTint9"/>
          <p:cNvSpPr/>
          <p:nvPr/>
        </p:nvSpPr>
        <p:spPr>
          <a:xfrm>
            <a:off x="1422400" y="8649613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0" name="DTint9"/>
          <p:cNvSpPr/>
          <p:nvPr/>
        </p:nvSpPr>
        <p:spPr>
          <a:xfrm>
            <a:off x="3517900" y="8649613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1" name="RL9"/>
          <p:cNvSpPr>
            <a:spLocks noGrp="1"/>
          </p:cNvSpPr>
          <p:nvPr/>
        </p:nvSpPr>
        <p:spPr>
          <a:xfrm>
            <a:off x="280000" y="8649613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42" name="R0_9"/>
          <p:cNvSpPr txBox="1"/>
          <p:nvPr/>
        </p:nvSpPr>
        <p:spPr>
          <a:xfrm>
            <a:off x="279400" y="8649613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{{RANK_10}}  {{AG_10}}</a:t>
            </a:r>
          </a:p>
        </p:txBody>
      </p:sp>
      <p:sp>
        <p:nvSpPr>
          <p:cNvPr id="643" name="R2_9"/>
          <p:cNvSpPr txBox="1"/>
          <p:nvPr/>
        </p:nvSpPr>
        <p:spPr>
          <a:xfrm>
            <a:off x="2819400" y="8649613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{{WIN_10}}</a:t>
            </a:r>
          </a:p>
        </p:txBody>
      </p:sp>
      <p:sp>
        <p:nvSpPr>
          <p:cNvPr id="644" name="RowBg10"/>
          <p:cNvSpPr/>
          <p:nvPr/>
        </p:nvSpPr>
        <p:spPr>
          <a:xfrm>
            <a:off x="280000" y="8939570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5" name="WTint10"/>
          <p:cNvSpPr/>
          <p:nvPr/>
        </p:nvSpPr>
        <p:spPr>
          <a:xfrm>
            <a:off x="1422400" y="8939570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6" name="DTint10"/>
          <p:cNvSpPr/>
          <p:nvPr/>
        </p:nvSpPr>
        <p:spPr>
          <a:xfrm>
            <a:off x="3517900" y="8939570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7" name="RL10"/>
          <p:cNvSpPr>
            <a:spLocks noGrp="1"/>
          </p:cNvSpPr>
          <p:nvPr/>
        </p:nvSpPr>
        <p:spPr>
          <a:xfrm>
            <a:off x="280000" y="8939570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48" name="R0_10"/>
          <p:cNvSpPr txBox="1"/>
          <p:nvPr/>
        </p:nvSpPr>
        <p:spPr>
          <a:xfrm>
            <a:off x="279400" y="8939570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{{RANK_11}}  {{AG_11}}</a:t>
            </a:r>
          </a:p>
        </p:txBody>
      </p:sp>
      <p:sp>
        <p:nvSpPr>
          <p:cNvPr id="649" name="R2_10"/>
          <p:cNvSpPr txBox="1"/>
          <p:nvPr/>
        </p:nvSpPr>
        <p:spPr>
          <a:xfrm>
            <a:off x="2819400" y="8939570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{{WIN_11}}</a:t>
            </a:r>
          </a:p>
        </p:txBody>
      </p:sp>
      <p:sp>
        <p:nvSpPr>
          <p:cNvPr id="650" name="R3_10"/>
          <p:cNvSpPr txBox="1"/>
          <p:nvPr/>
        </p:nvSpPr>
        <p:spPr>
          <a:xfrm>
            <a:off x="3517900" y="8939570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{{TOPDEPS_11}}</a:t>
            </a:r>
          </a:p>
        </p:txBody>
      </p:sp>
      <p:sp>
        <p:nvSpPr>
          <p:cNvPr id="651" name="R4_10"/>
          <p:cNvSpPr txBox="1"/>
          <p:nvPr/>
        </p:nvSpPr>
        <p:spPr>
          <a:xfrm>
            <a:off x="4914900" y="8939570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{{DEP_11}}</a:t>
            </a:r>
          </a:p>
        </p:txBody>
      </p:sp>
      <p:sp>
        <p:nvSpPr>
          <p:cNvPr id="652" name="RowBg11"/>
          <p:cNvSpPr/>
          <p:nvPr/>
        </p:nvSpPr>
        <p:spPr>
          <a:xfrm>
            <a:off x="280000" y="9229527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53" name="WTint11"/>
          <p:cNvSpPr/>
          <p:nvPr/>
        </p:nvSpPr>
        <p:spPr>
          <a:xfrm>
            <a:off x="1422400" y="9229527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54" name="DTint11"/>
          <p:cNvSpPr/>
          <p:nvPr/>
        </p:nvSpPr>
        <p:spPr>
          <a:xfrm>
            <a:off x="3517900" y="9229527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55" name="RL11"/>
          <p:cNvSpPr>
            <a:spLocks noGrp="1"/>
          </p:cNvSpPr>
          <p:nvPr/>
        </p:nvSpPr>
        <p:spPr>
          <a:xfrm>
            <a:off x="280000" y="9229527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56" name="R0_11"/>
          <p:cNvSpPr txBox="1"/>
          <p:nvPr/>
        </p:nvSpPr>
        <p:spPr>
          <a:xfrm>
            <a:off x="279400" y="9229527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{{RANK_12}}  {{AG_12}}</a:t>
            </a:r>
          </a:p>
        </p:txBody>
      </p:sp>
      <p:sp>
        <p:nvSpPr>
          <p:cNvPr id="657" name="R1_11"/>
          <p:cNvSpPr txBox="1"/>
          <p:nvPr/>
        </p:nvSpPr>
        <p:spPr>
          <a:xfrm>
            <a:off x="1422400" y="9229527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{{TOPWINS_12}}</a:t>
            </a:r>
          </a:p>
        </p:txBody>
      </p:sp>
      <p:sp>
        <p:nvSpPr>
          <p:cNvPr id="658" name="R2_11"/>
          <p:cNvSpPr txBox="1"/>
          <p:nvPr/>
        </p:nvSpPr>
        <p:spPr>
          <a:xfrm>
            <a:off x="2819400" y="9229527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{{WIN_12}}</a:t>
            </a:r>
          </a:p>
        </p:txBody>
      </p:sp>
      <p:sp>
        <p:nvSpPr>
          <p:cNvPr id="659" name="R3_11"/>
          <p:cNvSpPr txBox="1"/>
          <p:nvPr/>
        </p:nvSpPr>
        <p:spPr>
          <a:xfrm>
            <a:off x="3517900" y="9229527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{{TOPDEPS_12}}</a:t>
            </a:r>
          </a:p>
        </p:txBody>
      </p:sp>
      <p:sp>
        <p:nvSpPr>
          <p:cNvPr id="660" name="R4_11"/>
          <p:cNvSpPr txBox="1"/>
          <p:nvPr/>
        </p:nvSpPr>
        <p:spPr>
          <a:xfrm>
            <a:off x="4914900" y="9229527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{{DEP_12}}</a:t>
            </a:r>
          </a:p>
        </p:txBody>
      </p:sp>
      <p:sp>
        <p:nvSpPr>
          <p:cNvPr id="661" name="RowBg12"/>
          <p:cNvSpPr/>
          <p:nvPr/>
        </p:nvSpPr>
        <p:spPr>
          <a:xfrm>
            <a:off x="280000" y="9519484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2" name="WTint12"/>
          <p:cNvSpPr/>
          <p:nvPr/>
        </p:nvSpPr>
        <p:spPr>
          <a:xfrm>
            <a:off x="1422400" y="9519484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3" name="DTint12"/>
          <p:cNvSpPr/>
          <p:nvPr/>
        </p:nvSpPr>
        <p:spPr>
          <a:xfrm>
            <a:off x="3517900" y="9519484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4" name="RL12"/>
          <p:cNvSpPr>
            <a:spLocks noGrp="1"/>
          </p:cNvSpPr>
          <p:nvPr/>
        </p:nvSpPr>
        <p:spPr>
          <a:xfrm>
            <a:off x="280000" y="9519484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65" name="R0_12"/>
          <p:cNvSpPr txBox="1"/>
          <p:nvPr/>
        </p:nvSpPr>
        <p:spPr>
          <a:xfrm>
            <a:off x="279400" y="9519484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{{RANK_13}}  {{AG_13}}</a:t>
            </a:r>
          </a:p>
        </p:txBody>
      </p:sp>
      <p:sp>
        <p:nvSpPr>
          <p:cNvPr id="666" name="R1_12"/>
          <p:cNvSpPr txBox="1"/>
          <p:nvPr/>
        </p:nvSpPr>
        <p:spPr>
          <a:xfrm>
            <a:off x="1422400" y="9519484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{{TOPWINS_13}}</a:t>
            </a:r>
          </a:p>
        </p:txBody>
      </p:sp>
      <p:sp>
        <p:nvSpPr>
          <p:cNvPr id="667" name="R2_12"/>
          <p:cNvSpPr txBox="1"/>
          <p:nvPr/>
        </p:nvSpPr>
        <p:spPr>
          <a:xfrm>
            <a:off x="2819400" y="9519484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{{WIN_13}}</a:t>
            </a:r>
          </a:p>
        </p:txBody>
      </p:sp>
      <p:sp>
        <p:nvSpPr>
          <p:cNvPr id="668" name="R3_12"/>
          <p:cNvSpPr txBox="1"/>
          <p:nvPr/>
        </p:nvSpPr>
        <p:spPr>
          <a:xfrm>
            <a:off x="3517900" y="9519484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{{TOPDEPS_13}}</a:t>
            </a:r>
          </a:p>
        </p:txBody>
      </p:sp>
      <p:sp>
        <p:nvSpPr>
          <p:cNvPr id="669" name="R4_12"/>
          <p:cNvSpPr txBox="1"/>
          <p:nvPr/>
        </p:nvSpPr>
        <p:spPr>
          <a:xfrm>
            <a:off x="4914900" y="9519484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{{DEP_13}}</a:t>
            </a:r>
          </a:p>
        </p:txBody>
      </p:sp>
      <p:sp>
        <p:nvSpPr>
          <p:cNvPr id="670" name="RowBg13"/>
          <p:cNvSpPr/>
          <p:nvPr/>
        </p:nvSpPr>
        <p:spPr>
          <a:xfrm>
            <a:off x="280000" y="9809441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1" name="WTint13"/>
          <p:cNvSpPr/>
          <p:nvPr/>
        </p:nvSpPr>
        <p:spPr>
          <a:xfrm>
            <a:off x="1422400" y="9809441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2" name="DTint13"/>
          <p:cNvSpPr/>
          <p:nvPr/>
        </p:nvSpPr>
        <p:spPr>
          <a:xfrm>
            <a:off x="3517900" y="9809441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3" name="RL13"/>
          <p:cNvSpPr>
            <a:spLocks noGrp="1"/>
          </p:cNvSpPr>
          <p:nvPr/>
        </p:nvSpPr>
        <p:spPr>
          <a:xfrm>
            <a:off x="280000" y="9809441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74" name="R0_13"/>
          <p:cNvSpPr txBox="1"/>
          <p:nvPr/>
        </p:nvSpPr>
        <p:spPr>
          <a:xfrm>
            <a:off x="279400" y="9809441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{{RANK_14}}  {{AG_14}}</a:t>
            </a:r>
          </a:p>
        </p:txBody>
      </p:sp>
      <p:sp>
        <p:nvSpPr>
          <p:cNvPr id="675" name="R2_13"/>
          <p:cNvSpPr txBox="1"/>
          <p:nvPr/>
        </p:nvSpPr>
        <p:spPr>
          <a:xfrm>
            <a:off x="2819400" y="9809441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{{WIN_14}}</a:t>
            </a:r>
          </a:p>
        </p:txBody>
      </p:sp>
      <p:sp>
        <p:nvSpPr>
          <p:cNvPr id="676" name="R3_13"/>
          <p:cNvSpPr txBox="1"/>
          <p:nvPr/>
        </p:nvSpPr>
        <p:spPr>
          <a:xfrm>
            <a:off x="3517900" y="9809441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{{TOPDEPS_14}}</a:t>
            </a:r>
          </a:p>
        </p:txBody>
      </p:sp>
      <p:sp>
        <p:nvSpPr>
          <p:cNvPr id="677" name="R4_13"/>
          <p:cNvSpPr txBox="1"/>
          <p:nvPr/>
        </p:nvSpPr>
        <p:spPr>
          <a:xfrm>
            <a:off x="4914900" y="9809441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{{DEP_14}}</a:t>
            </a:r>
          </a:p>
        </p:txBody>
      </p:sp>
      <p:sp>
        <p:nvSpPr>
          <p:cNvPr id="678" name="TTop"/>
          <p:cNvSpPr>
            <a:spLocks noGrp="1"/>
          </p:cNvSpPr>
          <p:nvPr/>
        </p:nvSpPr>
        <p:spPr>
          <a:xfrm>
            <a:off x="280000" y="5730000"/>
            <a:ext cx="6999675" cy="0"/>
          </a:xfrm>
          <a:prstGeom prst="line">
            <a:avLst/>
          </a:prstGeom>
          <a:noFill/>
          <a:ln w="9525" cap="rnd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79" name="TBot"/>
          <p:cNvSpPr>
            <a:spLocks noGrp="1"/>
          </p:cNvSpPr>
          <p:nvPr/>
        </p:nvSpPr>
        <p:spPr>
          <a:xfrm>
            <a:off x="280000" y="10099400"/>
            <a:ext cx="699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80" name="Note"/>
          <p:cNvSpPr txBox="1"/>
          <p:nvPr/>
        </p:nvSpPr>
        <p:spPr>
          <a:xfrm>
            <a:off x="280000" y="10139400"/>
            <a:ext cx="6999675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9AAFAB"/>
                </a:solidFill>
                <a:latin typeface="Calibri"/>
              </a:rPr>
              <a:t>Retentions / renewals / transfers not included in NBB  ·  By decreasing NBB balance</a:t>
            </a:r>
          </a:p>
        </p:txBody>
      </p:sp>
      <p:sp>
        <p:nvSpPr>
          <p:cNvPr id="244" name="Rectangle : coins arrondis 243">
            <a:hlinkClick r:id="" action="ppaction://noaction"/>
            <a:extLst>
              <a:ext uri="{FF2B5EF4-FFF2-40B4-BE49-F238E27FC236}">
                <a16:creationId xmlns:a16="http://schemas.microsoft.com/office/drawing/2014/main" id="{931EE6A4-7F70-6264-4B3B-C9B5371351F5}"/>
              </a:ext>
            </a:extLst>
          </p:cNvPr>
          <p:cNvSpPr/>
          <p:nvPr/>
        </p:nvSpPr>
        <p:spPr>
          <a:xfrm>
            <a:off x="6572720" y="29583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3" name="Rectangle : coins arrondis 242">
            <a:hlinkClick r:id="" action="ppaction://noaction"/>
            <a:extLst>
              <a:ext uri="{FF2B5EF4-FFF2-40B4-BE49-F238E27FC236}">
                <a16:creationId xmlns:a16="http://schemas.microsoft.com/office/drawing/2014/main" id="{C104E8AE-A739-7296-C52F-A10296523641}"/>
              </a:ext>
            </a:extLst>
          </p:cNvPr>
          <p:cNvSpPr/>
          <p:nvPr/>
        </p:nvSpPr>
        <p:spPr>
          <a:xfrm>
            <a:off x="5284791" y="29583"/>
            <a:ext cx="1074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2" name="Rectangle : coins arrondis 241">
            <a:hlinkClick r:id="" action="ppaction://noaction"/>
            <a:extLst>
              <a:ext uri="{FF2B5EF4-FFF2-40B4-BE49-F238E27FC236}">
                <a16:creationId xmlns:a16="http://schemas.microsoft.com/office/drawing/2014/main" id="{9061CFA8-321D-75EA-F786-EA7014C26707}"/>
              </a:ext>
            </a:extLst>
          </p:cNvPr>
          <p:cNvSpPr/>
          <p:nvPr/>
        </p:nvSpPr>
        <p:spPr>
          <a:xfrm>
            <a:off x="4024846" y="29583"/>
            <a:ext cx="1074930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0" name="Rectangle : coins arrondis 239">
            <a:hlinkClick r:id="" action="ppaction://noaction"/>
            <a:extLst>
              <a:ext uri="{FF2B5EF4-FFF2-40B4-BE49-F238E27FC236}">
                <a16:creationId xmlns:a16="http://schemas.microsoft.com/office/drawing/2014/main" id="{005C3628-9BB3-E8EC-18FD-FDFB2715005C}"/>
              </a:ext>
            </a:extLst>
          </p:cNvPr>
          <p:cNvSpPr/>
          <p:nvPr/>
        </p:nvSpPr>
        <p:spPr>
          <a:xfrm>
            <a:off x="1504946" y="29583"/>
            <a:ext cx="95494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5" name="Rectangle : coins arrondis 244">
            <a:hlinkClick r:id="" action="ppaction://noaction"/>
            <a:extLst>
              <a:ext uri="{FF2B5EF4-FFF2-40B4-BE49-F238E27FC236}">
                <a16:creationId xmlns:a16="http://schemas.microsoft.com/office/drawing/2014/main" id="{AF6A3BD1-D9E3-5D2B-9F14-C5391E86378C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1" name="Hdr5">
            <a:extLst>
              <a:ext uri="{FF2B5EF4-FFF2-40B4-BE49-F238E27FC236}">
                <a16:creationId xmlns:a16="http://schemas.microsoft.com/office/drawing/2014/main" id="{B3907F2B-5F16-4B99-9D65-8EFB788DC9BC}"/>
              </a:ext>
            </a:extLst>
          </p:cNvPr>
          <p:cNvSpPr txBox="1"/>
          <p:nvPr/>
        </p:nvSpPr>
        <p:spPr>
          <a:xfrm>
            <a:off x="5613400" y="5727700"/>
            <a:ext cx="16637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800" b="1">
                <a:solidFill>
                  <a:srgbClr val="FFFFFF"/>
                </a:solidFill>
              </a:rPr>
              <a:t>Top Ret.</a:t>
            </a:r>
          </a:p>
        </p:txBody>
      </p:sp>
      <p:sp>
        <p:nvSpPr>
          <p:cNvPr id="246" name="R5_0">
            <a:extLst>
              <a:ext uri="{FF2B5EF4-FFF2-40B4-BE49-F238E27FC236}">
                <a16:creationId xmlns:a16="http://schemas.microsoft.com/office/drawing/2014/main" id="{25A5EAC2-9863-4889-A6E8-5CACA12456D8}"/>
              </a:ext>
            </a:extLst>
          </p:cNvPr>
          <p:cNvSpPr txBox="1"/>
          <p:nvPr/>
        </p:nvSpPr>
        <p:spPr>
          <a:xfrm>
            <a:off x="5613400" y="60452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{{TOPRET_1}}</a:t>
            </a:r>
          </a:p>
        </p:txBody>
      </p:sp>
      <p:sp>
        <p:nvSpPr>
          <p:cNvPr id="247" name="R5_1">
            <a:extLst>
              <a:ext uri="{FF2B5EF4-FFF2-40B4-BE49-F238E27FC236}">
                <a16:creationId xmlns:a16="http://schemas.microsoft.com/office/drawing/2014/main" id="{45C58F58-327F-4863-8B4C-1D351181C984}"/>
              </a:ext>
            </a:extLst>
          </p:cNvPr>
          <p:cNvSpPr txBox="1"/>
          <p:nvPr/>
        </p:nvSpPr>
        <p:spPr>
          <a:xfrm>
            <a:off x="5613400" y="63246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{{TOPRET_2}}</a:t>
            </a:r>
          </a:p>
        </p:txBody>
      </p:sp>
      <p:sp>
        <p:nvSpPr>
          <p:cNvPr id="248" name="R5_2">
            <a:extLst>
              <a:ext uri="{FF2B5EF4-FFF2-40B4-BE49-F238E27FC236}">
                <a16:creationId xmlns:a16="http://schemas.microsoft.com/office/drawing/2014/main" id="{1C83E637-9DAF-44DF-A953-678C6440C686}"/>
              </a:ext>
            </a:extLst>
          </p:cNvPr>
          <p:cNvSpPr txBox="1"/>
          <p:nvPr/>
        </p:nvSpPr>
        <p:spPr>
          <a:xfrm>
            <a:off x="5613400" y="66167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{{TOPRET_3}}</a:t>
            </a:r>
          </a:p>
        </p:txBody>
      </p:sp>
      <p:sp>
        <p:nvSpPr>
          <p:cNvPr id="249" name="R5_3">
            <a:extLst>
              <a:ext uri="{FF2B5EF4-FFF2-40B4-BE49-F238E27FC236}">
                <a16:creationId xmlns:a16="http://schemas.microsoft.com/office/drawing/2014/main" id="{9E19464F-9F6E-4279-8B52-4393B22374FF}"/>
              </a:ext>
            </a:extLst>
          </p:cNvPr>
          <p:cNvSpPr txBox="1"/>
          <p:nvPr/>
        </p:nvSpPr>
        <p:spPr>
          <a:xfrm>
            <a:off x="5613400" y="69088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{{TOPRET_4}}</a:t>
            </a:r>
          </a:p>
        </p:txBody>
      </p:sp>
      <p:sp>
        <p:nvSpPr>
          <p:cNvPr id="250" name="R5_4">
            <a:extLst>
              <a:ext uri="{FF2B5EF4-FFF2-40B4-BE49-F238E27FC236}">
                <a16:creationId xmlns:a16="http://schemas.microsoft.com/office/drawing/2014/main" id="{8A049A90-2A16-48E1-81C4-D9D741DE0D80}"/>
              </a:ext>
            </a:extLst>
          </p:cNvPr>
          <p:cNvSpPr txBox="1"/>
          <p:nvPr/>
        </p:nvSpPr>
        <p:spPr>
          <a:xfrm>
            <a:off x="5613400" y="72009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{{TOPRET_5}}</a:t>
            </a:r>
          </a:p>
        </p:txBody>
      </p:sp>
      <p:sp>
        <p:nvSpPr>
          <p:cNvPr id="251" name="R5_5">
            <a:extLst>
              <a:ext uri="{FF2B5EF4-FFF2-40B4-BE49-F238E27FC236}">
                <a16:creationId xmlns:a16="http://schemas.microsoft.com/office/drawing/2014/main" id="{12B01B88-3C5C-4475-8835-F424A999AC34}"/>
              </a:ext>
            </a:extLst>
          </p:cNvPr>
          <p:cNvSpPr txBox="1"/>
          <p:nvPr/>
        </p:nvSpPr>
        <p:spPr>
          <a:xfrm>
            <a:off x="5613400" y="74930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{{TOPRET_6}}</a:t>
            </a:r>
          </a:p>
        </p:txBody>
      </p:sp>
      <p:sp>
        <p:nvSpPr>
          <p:cNvPr id="252" name="R5_6">
            <a:extLst>
              <a:ext uri="{FF2B5EF4-FFF2-40B4-BE49-F238E27FC236}">
                <a16:creationId xmlns:a16="http://schemas.microsoft.com/office/drawing/2014/main" id="{C773C278-2C42-4602-A9B2-8D860DE018D6}"/>
              </a:ext>
            </a:extLst>
          </p:cNvPr>
          <p:cNvSpPr txBox="1"/>
          <p:nvPr/>
        </p:nvSpPr>
        <p:spPr>
          <a:xfrm>
            <a:off x="5613400" y="77851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{{TOPRET_7}}</a:t>
            </a:r>
          </a:p>
        </p:txBody>
      </p:sp>
      <p:sp>
        <p:nvSpPr>
          <p:cNvPr id="253" name="R5_7">
            <a:extLst>
              <a:ext uri="{FF2B5EF4-FFF2-40B4-BE49-F238E27FC236}">
                <a16:creationId xmlns:a16="http://schemas.microsoft.com/office/drawing/2014/main" id="{C846B9B6-986C-48E0-A6E6-57362340B7DE}"/>
              </a:ext>
            </a:extLst>
          </p:cNvPr>
          <p:cNvSpPr txBox="1"/>
          <p:nvPr/>
        </p:nvSpPr>
        <p:spPr>
          <a:xfrm>
            <a:off x="5613400" y="80645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{{TOPRET_8}}</a:t>
            </a:r>
          </a:p>
        </p:txBody>
      </p:sp>
      <p:sp>
        <p:nvSpPr>
          <p:cNvPr id="254" name="R5_8">
            <a:extLst>
              <a:ext uri="{FF2B5EF4-FFF2-40B4-BE49-F238E27FC236}">
                <a16:creationId xmlns:a16="http://schemas.microsoft.com/office/drawing/2014/main" id="{E3DBF592-0B91-40CB-B7C2-06738F4C68F9}"/>
              </a:ext>
            </a:extLst>
          </p:cNvPr>
          <p:cNvSpPr txBox="1"/>
          <p:nvPr/>
        </p:nvSpPr>
        <p:spPr>
          <a:xfrm>
            <a:off x="5613400" y="83566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{{TOPRET_9}}</a:t>
            </a:r>
          </a:p>
        </p:txBody>
      </p:sp>
      <p:sp>
        <p:nvSpPr>
          <p:cNvPr id="255" name="R5_9">
            <a:extLst>
              <a:ext uri="{FF2B5EF4-FFF2-40B4-BE49-F238E27FC236}">
                <a16:creationId xmlns:a16="http://schemas.microsoft.com/office/drawing/2014/main" id="{0CDBBF65-A7A5-475E-A257-B79F320ED0F2}"/>
              </a:ext>
            </a:extLst>
          </p:cNvPr>
          <p:cNvSpPr txBox="1"/>
          <p:nvPr/>
        </p:nvSpPr>
        <p:spPr>
          <a:xfrm>
            <a:off x="5613400" y="86487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{{TOPRET_10}}</a:t>
            </a:r>
          </a:p>
        </p:txBody>
      </p:sp>
      <p:sp>
        <p:nvSpPr>
          <p:cNvPr id="683" name="R5_10">
            <a:extLst>
              <a:ext uri="{FF2B5EF4-FFF2-40B4-BE49-F238E27FC236}">
                <a16:creationId xmlns:a16="http://schemas.microsoft.com/office/drawing/2014/main" id="{95B980B5-8965-4A7E-9B95-26EE54DC48AA}"/>
              </a:ext>
            </a:extLst>
          </p:cNvPr>
          <p:cNvSpPr txBox="1"/>
          <p:nvPr/>
        </p:nvSpPr>
        <p:spPr>
          <a:xfrm>
            <a:off x="5613400" y="89408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{{TOPRET_11}}</a:t>
            </a:r>
          </a:p>
        </p:txBody>
      </p:sp>
      <p:sp>
        <p:nvSpPr>
          <p:cNvPr id="684" name="R5_11">
            <a:extLst>
              <a:ext uri="{FF2B5EF4-FFF2-40B4-BE49-F238E27FC236}">
                <a16:creationId xmlns:a16="http://schemas.microsoft.com/office/drawing/2014/main" id="{4166E265-B33F-4CD4-8499-5CAE9818FDD2}"/>
              </a:ext>
            </a:extLst>
          </p:cNvPr>
          <p:cNvSpPr txBox="1"/>
          <p:nvPr/>
        </p:nvSpPr>
        <p:spPr>
          <a:xfrm>
            <a:off x="5613400" y="92329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{{TOPRET_12}}</a:t>
            </a:r>
          </a:p>
        </p:txBody>
      </p:sp>
      <p:sp>
        <p:nvSpPr>
          <p:cNvPr id="685" name="R5_12">
            <a:extLst>
              <a:ext uri="{FF2B5EF4-FFF2-40B4-BE49-F238E27FC236}">
                <a16:creationId xmlns:a16="http://schemas.microsoft.com/office/drawing/2014/main" id="{E5A249B4-CF33-4FB6-BFA9-710697D9FDC1}"/>
              </a:ext>
            </a:extLst>
          </p:cNvPr>
          <p:cNvSpPr txBox="1"/>
          <p:nvPr/>
        </p:nvSpPr>
        <p:spPr>
          <a:xfrm>
            <a:off x="5613400" y="95250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{{TOPRET_13}}</a:t>
            </a:r>
          </a:p>
        </p:txBody>
      </p:sp>
      <p:sp>
        <p:nvSpPr>
          <p:cNvPr id="686" name="R5_13">
            <a:extLst>
              <a:ext uri="{FF2B5EF4-FFF2-40B4-BE49-F238E27FC236}">
                <a16:creationId xmlns:a16="http://schemas.microsoft.com/office/drawing/2014/main" id="{5670B2CF-52D6-4E8B-9D13-5207A852BEE4}"/>
              </a:ext>
            </a:extLst>
          </p:cNvPr>
          <p:cNvSpPr txBox="1"/>
          <p:nvPr/>
        </p:nvSpPr>
        <p:spPr>
          <a:xfrm>
            <a:off x="5613400" y="98044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{{TOPRET_14}}</a:t>
            </a:r>
          </a:p>
        </p:txBody>
      </p:sp>
    </p:spTree>
    <p:extLst>
      <p:ext uri="{BB962C8B-B14F-4D97-AF65-F5344CB8AC3E}">
        <p14:creationId xmlns:p14="http://schemas.microsoft.com/office/powerpoint/2010/main" val="3069574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0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0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0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1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21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21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1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21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1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1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1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1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3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3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3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3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4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5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5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5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5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5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5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9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6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602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603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604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605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606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607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60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60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610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611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00" name="Title"/>
          <p:cNvSpPr txBox="1"/>
          <p:nvPr/>
        </p:nvSpPr>
        <p:spPr>
          <a:xfrm>
            <a:off x="280000" y="420000"/>
            <a:ext cx="699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200" b="1" dirty="0">
                <a:solidFill>
                  <a:srgbClr val="1F2D2A"/>
                </a:solidFill>
                <a:latin typeface="Calibri"/>
              </a:rPr>
              <a:t>NBB 2025 groups overview</a:t>
            </a:r>
            <a:r>
              <a:rPr lang="en-US" sz="2200" b="0" dirty="0">
                <a:solidFill>
                  <a:srgbClr val="7FA89E"/>
                </a:solidFill>
                <a:latin typeface="Calibri"/>
              </a:rPr>
              <a:t>  ·  Sep.24 – Sep.25</a:t>
            </a:r>
          </a:p>
        </p:txBody>
      </p:sp>
      <p:sp>
        <p:nvSpPr>
          <p:cNvPr id="401" name="Sub"/>
          <p:cNvSpPr txBox="1"/>
          <p:nvPr/>
        </p:nvSpPr>
        <p:spPr>
          <a:xfrm>
            <a:off x="280000" y="745000"/>
            <a:ext cx="6999675" cy="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Retentions, contract renewals &amp; transfers not included  ·  By decreasing NBB balance</a:t>
            </a:r>
          </a:p>
        </p:txBody>
      </p:sp>
      <p:sp>
        <p:nvSpPr>
          <p:cNvPr id="402" name="TableBg"/>
          <p:cNvSpPr/>
          <p:nvPr/>
        </p:nvSpPr>
        <p:spPr>
          <a:xfrm>
            <a:off x="280000" y="950000"/>
            <a:ext cx="6999675" cy="89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E0DC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03" name="HdrBg"/>
          <p:cNvSpPr/>
          <p:nvPr/>
        </p:nvSpPr>
        <p:spPr>
          <a:xfrm>
            <a:off x="280000" y="950000"/>
            <a:ext cx="6999675" cy="430000"/>
          </a:xfrm>
          <a:prstGeom prst="roundRect">
            <a:avLst>
              <a:gd name="adj" fmla="val 3000"/>
            </a:avLst>
          </a:prstGeom>
          <a:solidFill>
            <a:srgbClr val="2A3D3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4" name="Hdr0"/>
          <p:cNvSpPr txBox="1"/>
          <p:nvPr/>
        </p:nvSpPr>
        <p:spPr>
          <a:xfrm>
            <a:off x="280000" y="950000"/>
            <a:ext cx="235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GROUPE MÉDIA</a:t>
            </a:r>
          </a:p>
        </p:txBody>
      </p:sp>
      <p:sp>
        <p:nvSpPr>
          <p:cNvPr id="405" name="Hdr1"/>
          <p:cNvSpPr txBox="1"/>
          <p:nvPr/>
        </p:nvSpPr>
        <p:spPr>
          <a:xfrm>
            <a:off x="2630000" y="950000"/>
            <a:ext cx="78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WINS (NBRE)</a:t>
            </a:r>
          </a:p>
        </p:txBody>
      </p:sp>
      <p:sp>
        <p:nvSpPr>
          <p:cNvPr id="406" name="Hdr2"/>
          <p:cNvSpPr txBox="1"/>
          <p:nvPr/>
        </p:nvSpPr>
        <p:spPr>
          <a:xfrm>
            <a:off x="3410000" y="950000"/>
            <a:ext cx="82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PERTES (NBRE)</a:t>
            </a:r>
          </a:p>
        </p:txBody>
      </p:sp>
      <p:sp>
        <p:nvSpPr>
          <p:cNvPr id="407" name="Hdr3"/>
          <p:cNvSpPr txBox="1"/>
          <p:nvPr/>
        </p:nvSpPr>
        <p:spPr>
          <a:xfrm>
            <a:off x="4230000" y="950000"/>
            <a:ext cx="110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NET BALANCE ($M)</a:t>
            </a:r>
          </a:p>
        </p:txBody>
      </p:sp>
      <p:sp>
        <p:nvSpPr>
          <p:cNvPr id="408" name="Hdr4"/>
          <p:cNvSpPr txBox="1"/>
          <p:nvPr/>
        </p:nvSpPr>
        <p:spPr>
          <a:xfrm>
            <a:off x="5330000" y="950000"/>
            <a:ext cx="92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WINS ($M)</a:t>
            </a:r>
          </a:p>
        </p:txBody>
      </p:sp>
      <p:sp>
        <p:nvSpPr>
          <p:cNvPr id="409" name="Hdr5"/>
          <p:cNvSpPr txBox="1"/>
          <p:nvPr/>
        </p:nvSpPr>
        <p:spPr>
          <a:xfrm>
            <a:off x="6250000" y="950000"/>
            <a:ext cx="1029675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DÉPARTS ($M)</a:t>
            </a:r>
          </a:p>
        </p:txBody>
      </p:sp>
      <p:sp>
        <p:nvSpPr>
          <p:cNvPr id="410" name="RBg0"/>
          <p:cNvSpPr/>
          <p:nvPr/>
        </p:nvSpPr>
        <p:spPr>
          <a:xfrm>
            <a:off x="280000" y="1380000"/>
            <a:ext cx="6999675" cy="48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11" name="RSep0"/>
          <p:cNvSpPr/>
          <p:nvPr/>
        </p:nvSpPr>
        <p:spPr>
          <a:xfrm>
            <a:off x="280000" y="185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12" name="Stripe0"/>
          <p:cNvSpPr/>
          <p:nvPr/>
        </p:nvSpPr>
        <p:spPr>
          <a:xfrm>
            <a:off x="280000" y="1380000"/>
            <a:ext cx="22000" cy="480000"/>
          </a:xfrm>
          <a:prstGeom prst="rect">
            <a:avLst/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13" name="GN0"/>
          <p:cNvSpPr txBox="1"/>
          <p:nvPr/>
        </p:nvSpPr>
        <p:spPr>
          <a:xfrm>
            <a:off x="280000" y="138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E87040"/>
                </a:solidFill>
                <a:latin typeface="Calibri"/>
              </a:rPr>
              <a:t>{{GRP_RANK_PUBLICIS}}  {{GRP_NAME_PUBLICIS}}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/>
            </a:r>
          </a:p>
        </p:txBody>
      </p:sp>
      <p:sp>
        <p:nvSpPr>
          <p:cNvPr id="414" name="GW0"/>
          <p:cNvSpPr txBox="1"/>
          <p:nvPr/>
        </p:nvSpPr>
        <p:spPr>
          <a:xfrm>
            <a:off x="2630000" y="138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{{GRP_WC_PUBLICIS}}</a:t>
            </a:r>
          </a:p>
        </p:txBody>
      </p:sp>
      <p:sp>
        <p:nvSpPr>
          <p:cNvPr id="415" name="GD0"/>
          <p:cNvSpPr txBox="1"/>
          <p:nvPr/>
        </p:nvSpPr>
        <p:spPr>
          <a:xfrm>
            <a:off x="3410000" y="138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{{GRP_DC_PUBLICIS}}</a:t>
            </a:r>
          </a:p>
        </p:txBody>
      </p:sp>
      <p:sp>
        <p:nvSpPr>
          <p:cNvPr id="416" name="GB0"/>
          <p:cNvSpPr txBox="1"/>
          <p:nvPr/>
        </p:nvSpPr>
        <p:spPr>
          <a:xfrm>
            <a:off x="4230000" y="138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3A5E52"/>
                </a:solidFill>
                <a:latin typeface="Calibri"/>
              </a:rPr>
              <a:t>{{GRP_NBB_PUBLICIS}}</a:t>
            </a:r>
          </a:p>
        </p:txBody>
      </p:sp>
      <p:sp>
        <p:nvSpPr>
          <p:cNvPr id="417" name="GWm0"/>
          <p:cNvSpPr txBox="1"/>
          <p:nvPr/>
        </p:nvSpPr>
        <p:spPr>
          <a:xfrm>
            <a:off x="5330000" y="138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{{GRP_WINS_PUBLICIS}}</a:t>
            </a:r>
          </a:p>
        </p:txBody>
      </p:sp>
      <p:sp>
        <p:nvSpPr>
          <p:cNvPr id="418" name="GDm0"/>
          <p:cNvSpPr txBox="1"/>
          <p:nvPr/>
        </p:nvSpPr>
        <p:spPr>
          <a:xfrm>
            <a:off x="6250000" y="138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{{GRP_DEPS_PUBLICIS}}</a:t>
            </a:r>
          </a:p>
        </p:txBody>
      </p:sp>
      <p:sp>
        <p:nvSpPr>
          <p:cNvPr id="419" name="RBg1"/>
          <p:cNvSpPr/>
          <p:nvPr/>
        </p:nvSpPr>
        <p:spPr>
          <a:xfrm>
            <a:off x="280000" y="1860000"/>
            <a:ext cx="6999675" cy="31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20" name="RSep1"/>
          <p:cNvSpPr/>
          <p:nvPr/>
        </p:nvSpPr>
        <p:spPr>
          <a:xfrm>
            <a:off x="280000" y="216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21" name="AN1"/>
          <p:cNvSpPr txBox="1"/>
          <p:nvPr/>
        </p:nvSpPr>
        <p:spPr>
          <a:xfrm>
            <a:off x="280000" y="186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{{GRP_AG_PUBLICIS_1}}</a:t>
            </a:r>
          </a:p>
        </p:txBody>
      </p:sp>
      <p:sp>
        <p:nvSpPr>
          <p:cNvPr id="422" name="AW1"/>
          <p:cNvSpPr txBox="1"/>
          <p:nvPr/>
        </p:nvSpPr>
        <p:spPr>
          <a:xfrm>
            <a:off x="2630000" y="186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{{GRP_WC_PUBLICIS_1}}</a:t>
            </a:r>
          </a:p>
        </p:txBody>
      </p:sp>
      <p:sp>
        <p:nvSpPr>
          <p:cNvPr id="423" name="AD1"/>
          <p:cNvSpPr txBox="1"/>
          <p:nvPr/>
        </p:nvSpPr>
        <p:spPr>
          <a:xfrm>
            <a:off x="3410000" y="186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{{GRP_DC_PUBLICIS_1}}</a:t>
            </a:r>
          </a:p>
        </p:txBody>
      </p:sp>
      <p:sp>
        <p:nvSpPr>
          <p:cNvPr id="424" name="AB1"/>
          <p:cNvSpPr txBox="1"/>
          <p:nvPr/>
        </p:nvSpPr>
        <p:spPr>
          <a:xfrm>
            <a:off x="4230000" y="186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{{GRP_NBB_PUBLICIS_1}}</a:t>
            </a:r>
          </a:p>
        </p:txBody>
      </p:sp>
      <p:sp>
        <p:nvSpPr>
          <p:cNvPr id="425" name="AWm1"/>
          <p:cNvSpPr txBox="1"/>
          <p:nvPr/>
        </p:nvSpPr>
        <p:spPr>
          <a:xfrm>
            <a:off x="5330000" y="186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{{GRP_WIN_PUBLICIS_1}}</a:t>
            </a:r>
          </a:p>
        </p:txBody>
      </p:sp>
      <p:sp>
        <p:nvSpPr>
          <p:cNvPr id="426" name="ADm1"/>
          <p:cNvSpPr txBox="1"/>
          <p:nvPr/>
        </p:nvSpPr>
        <p:spPr>
          <a:xfrm>
            <a:off x="6250000" y="186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{{GRP_DEP_PUBLICIS_1}}</a:t>
            </a:r>
          </a:p>
        </p:txBody>
      </p:sp>
      <p:sp>
        <p:nvSpPr>
          <p:cNvPr id="427" name="RBg2"/>
          <p:cNvSpPr/>
          <p:nvPr/>
        </p:nvSpPr>
        <p:spPr>
          <a:xfrm>
            <a:off x="280000" y="2170000"/>
            <a:ext cx="6999675" cy="31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28" name="RSep2"/>
          <p:cNvSpPr/>
          <p:nvPr/>
        </p:nvSpPr>
        <p:spPr>
          <a:xfrm>
            <a:off x="280000" y="247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29" name="AN2"/>
          <p:cNvSpPr txBox="1"/>
          <p:nvPr/>
        </p:nvSpPr>
        <p:spPr>
          <a:xfrm>
            <a:off x="280000" y="217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{{GRP_AG_PUBLICIS_2}}</a:t>
            </a:r>
          </a:p>
        </p:txBody>
      </p:sp>
      <p:sp>
        <p:nvSpPr>
          <p:cNvPr id="430" name="AW2"/>
          <p:cNvSpPr txBox="1"/>
          <p:nvPr/>
        </p:nvSpPr>
        <p:spPr>
          <a:xfrm>
            <a:off x="2630000" y="217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{{GRP_WC_PUBLICIS_2}}</a:t>
            </a:r>
          </a:p>
        </p:txBody>
      </p:sp>
      <p:sp>
        <p:nvSpPr>
          <p:cNvPr id="431" name="AD2"/>
          <p:cNvSpPr txBox="1"/>
          <p:nvPr/>
        </p:nvSpPr>
        <p:spPr>
          <a:xfrm>
            <a:off x="3410000" y="217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{{GRP_DC_PUBLICIS_2}}</a:t>
            </a:r>
          </a:p>
        </p:txBody>
      </p:sp>
      <p:sp>
        <p:nvSpPr>
          <p:cNvPr id="432" name="AB2"/>
          <p:cNvSpPr txBox="1"/>
          <p:nvPr/>
        </p:nvSpPr>
        <p:spPr>
          <a:xfrm>
            <a:off x="4230000" y="217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{{GRP_NBB_PUBLICIS_2}}</a:t>
            </a:r>
          </a:p>
        </p:txBody>
      </p:sp>
      <p:sp>
        <p:nvSpPr>
          <p:cNvPr id="433" name="AWm2"/>
          <p:cNvSpPr txBox="1"/>
          <p:nvPr/>
        </p:nvSpPr>
        <p:spPr>
          <a:xfrm>
            <a:off x="5330000" y="217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{{GRP_WIN_PUBLICIS_2}}</a:t>
            </a:r>
          </a:p>
        </p:txBody>
      </p:sp>
      <p:sp>
        <p:nvSpPr>
          <p:cNvPr id="434" name="ADm2"/>
          <p:cNvSpPr txBox="1"/>
          <p:nvPr/>
        </p:nvSpPr>
        <p:spPr>
          <a:xfrm>
            <a:off x="6250000" y="217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{{GRP_DEP_PUBLICIS_2}}</a:t>
            </a:r>
          </a:p>
        </p:txBody>
      </p:sp>
      <p:sp>
        <p:nvSpPr>
          <p:cNvPr id="435" name="RBg3"/>
          <p:cNvSpPr/>
          <p:nvPr/>
        </p:nvSpPr>
        <p:spPr>
          <a:xfrm>
            <a:off x="280000" y="2480000"/>
            <a:ext cx="6999675" cy="31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36" name="RSep3"/>
          <p:cNvSpPr/>
          <p:nvPr/>
        </p:nvSpPr>
        <p:spPr>
          <a:xfrm>
            <a:off x="280000" y="278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37" name="AN3"/>
          <p:cNvSpPr txBox="1"/>
          <p:nvPr/>
        </p:nvSpPr>
        <p:spPr>
          <a:xfrm>
            <a:off x="280000" y="248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{{GRP_AG_PUBLICIS_3}}</a:t>
            </a:r>
          </a:p>
        </p:txBody>
      </p:sp>
      <p:sp>
        <p:nvSpPr>
          <p:cNvPr id="438" name="AW3"/>
          <p:cNvSpPr txBox="1"/>
          <p:nvPr/>
        </p:nvSpPr>
        <p:spPr>
          <a:xfrm>
            <a:off x="2630000" y="248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{{GRP_WC_PUBLICIS_3}}</a:t>
            </a:r>
          </a:p>
        </p:txBody>
      </p:sp>
      <p:sp>
        <p:nvSpPr>
          <p:cNvPr id="439" name="AD3"/>
          <p:cNvSpPr txBox="1"/>
          <p:nvPr/>
        </p:nvSpPr>
        <p:spPr>
          <a:xfrm>
            <a:off x="3410000" y="248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{{GRP_DC_PUBLICIS_3}}</a:t>
            </a:r>
          </a:p>
        </p:txBody>
      </p:sp>
      <p:sp>
        <p:nvSpPr>
          <p:cNvPr id="440" name="AB3"/>
          <p:cNvSpPr txBox="1"/>
          <p:nvPr/>
        </p:nvSpPr>
        <p:spPr>
          <a:xfrm>
            <a:off x="4230000" y="248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{{GRP_NBB_PUBLICIS_3}}</a:t>
            </a:r>
          </a:p>
        </p:txBody>
      </p:sp>
      <p:sp>
        <p:nvSpPr>
          <p:cNvPr id="441" name="AWm3"/>
          <p:cNvSpPr txBox="1"/>
          <p:nvPr/>
        </p:nvSpPr>
        <p:spPr>
          <a:xfrm>
            <a:off x="5330000" y="248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{{GRP_WIN_PUBLICIS_3}}</a:t>
            </a:r>
          </a:p>
        </p:txBody>
      </p:sp>
      <p:sp>
        <p:nvSpPr>
          <p:cNvPr id="442" name="ADm3"/>
          <p:cNvSpPr txBox="1"/>
          <p:nvPr/>
        </p:nvSpPr>
        <p:spPr>
          <a:xfrm>
            <a:off x="6250000" y="248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{{GRP_DEP_PUBLICIS_3}}</a:t>
            </a:r>
          </a:p>
        </p:txBody>
      </p:sp>
      <p:sp>
        <p:nvSpPr>
          <p:cNvPr id="443" name="RBg4"/>
          <p:cNvSpPr/>
          <p:nvPr/>
        </p:nvSpPr>
        <p:spPr>
          <a:xfrm>
            <a:off x="280000" y="2850000"/>
            <a:ext cx="6999675" cy="48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44" name="RSep4"/>
          <p:cNvSpPr/>
          <p:nvPr/>
        </p:nvSpPr>
        <p:spPr>
          <a:xfrm>
            <a:off x="280000" y="332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45" name="Stripe4"/>
          <p:cNvSpPr/>
          <p:nvPr/>
        </p:nvSpPr>
        <p:spPr>
          <a:xfrm>
            <a:off x="280000" y="2850000"/>
            <a:ext cx="22000" cy="480000"/>
          </a:xfrm>
          <a:prstGeom prst="rect">
            <a:avLst/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46" name="GN4"/>
          <p:cNvSpPr txBox="1"/>
          <p:nvPr/>
        </p:nvSpPr>
        <p:spPr>
          <a:xfrm>
            <a:off x="280000" y="285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C49600"/>
                </a:solidFill>
                <a:latin typeface="Calibri"/>
              </a:rPr>
              <a:t>{{GRP_RANK_OMNICOM}}  {{GRP_NAME_OMNICOM}}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/>
            </a:r>
          </a:p>
        </p:txBody>
      </p:sp>
      <p:sp>
        <p:nvSpPr>
          <p:cNvPr id="447" name="GW4"/>
          <p:cNvSpPr txBox="1"/>
          <p:nvPr/>
        </p:nvSpPr>
        <p:spPr>
          <a:xfrm>
            <a:off x="2630000" y="285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{{GRP_WC_OMNICOM}}</a:t>
            </a:r>
          </a:p>
        </p:txBody>
      </p:sp>
      <p:sp>
        <p:nvSpPr>
          <p:cNvPr id="448" name="GD4"/>
          <p:cNvSpPr txBox="1"/>
          <p:nvPr/>
        </p:nvSpPr>
        <p:spPr>
          <a:xfrm>
            <a:off x="3410000" y="285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{{GRP_DC_OMNICOM}}</a:t>
            </a:r>
          </a:p>
        </p:txBody>
      </p:sp>
      <p:sp>
        <p:nvSpPr>
          <p:cNvPr id="449" name="GB4"/>
          <p:cNvSpPr txBox="1"/>
          <p:nvPr/>
        </p:nvSpPr>
        <p:spPr>
          <a:xfrm>
            <a:off x="4230000" y="285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3A5E52"/>
                </a:solidFill>
                <a:latin typeface="Calibri"/>
              </a:rPr>
              <a:t>{{GRP_NBB_OMNICOM}}</a:t>
            </a:r>
          </a:p>
        </p:txBody>
      </p:sp>
      <p:sp>
        <p:nvSpPr>
          <p:cNvPr id="450" name="GWm4"/>
          <p:cNvSpPr txBox="1"/>
          <p:nvPr/>
        </p:nvSpPr>
        <p:spPr>
          <a:xfrm>
            <a:off x="5330000" y="285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{{GRP_WINS_OMNICOM}}</a:t>
            </a:r>
          </a:p>
        </p:txBody>
      </p:sp>
      <p:sp>
        <p:nvSpPr>
          <p:cNvPr id="451" name="GDm4"/>
          <p:cNvSpPr txBox="1"/>
          <p:nvPr/>
        </p:nvSpPr>
        <p:spPr>
          <a:xfrm>
            <a:off x="6250000" y="285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{{GRP_DEPS_OMNICOM}}</a:t>
            </a:r>
          </a:p>
        </p:txBody>
      </p:sp>
      <p:sp>
        <p:nvSpPr>
          <p:cNvPr id="452" name="RBg5"/>
          <p:cNvSpPr/>
          <p:nvPr/>
        </p:nvSpPr>
        <p:spPr>
          <a:xfrm>
            <a:off x="280000" y="333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53" name="RSep5"/>
          <p:cNvSpPr/>
          <p:nvPr/>
        </p:nvSpPr>
        <p:spPr>
          <a:xfrm>
            <a:off x="280000" y="363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54" name="AN5"/>
          <p:cNvSpPr txBox="1"/>
          <p:nvPr/>
        </p:nvSpPr>
        <p:spPr>
          <a:xfrm>
            <a:off x="280000" y="333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{{GRP_AG_OMNICOM_1}}</a:t>
            </a:r>
          </a:p>
        </p:txBody>
      </p:sp>
      <p:sp>
        <p:nvSpPr>
          <p:cNvPr id="455" name="AW5"/>
          <p:cNvSpPr txBox="1"/>
          <p:nvPr/>
        </p:nvSpPr>
        <p:spPr>
          <a:xfrm>
            <a:off x="2630000" y="333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{{GRP_WC_OMNICOM_1}}</a:t>
            </a:r>
          </a:p>
        </p:txBody>
      </p:sp>
      <p:sp>
        <p:nvSpPr>
          <p:cNvPr id="456" name="AD5"/>
          <p:cNvSpPr txBox="1"/>
          <p:nvPr/>
        </p:nvSpPr>
        <p:spPr>
          <a:xfrm>
            <a:off x="3410000" y="333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{{GRP_DC_OMNICOM_1}}</a:t>
            </a:r>
          </a:p>
        </p:txBody>
      </p:sp>
      <p:sp>
        <p:nvSpPr>
          <p:cNvPr id="457" name="AB5"/>
          <p:cNvSpPr txBox="1"/>
          <p:nvPr/>
        </p:nvSpPr>
        <p:spPr>
          <a:xfrm>
            <a:off x="4230000" y="333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{{GRP_NBB_OMNICOM_1}}</a:t>
            </a:r>
          </a:p>
        </p:txBody>
      </p:sp>
      <p:sp>
        <p:nvSpPr>
          <p:cNvPr id="458" name="AWm5"/>
          <p:cNvSpPr txBox="1"/>
          <p:nvPr/>
        </p:nvSpPr>
        <p:spPr>
          <a:xfrm>
            <a:off x="5330000" y="333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{{GRP_WIN_OMNICOM_1}}</a:t>
            </a:r>
          </a:p>
        </p:txBody>
      </p:sp>
      <p:sp>
        <p:nvSpPr>
          <p:cNvPr id="459" name="ADm5"/>
          <p:cNvSpPr txBox="1"/>
          <p:nvPr/>
        </p:nvSpPr>
        <p:spPr>
          <a:xfrm>
            <a:off x="6250000" y="333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{{GRP_DEP_OMNICOM_1}}</a:t>
            </a:r>
          </a:p>
        </p:txBody>
      </p:sp>
      <p:sp>
        <p:nvSpPr>
          <p:cNvPr id="460" name="RBg6"/>
          <p:cNvSpPr/>
          <p:nvPr/>
        </p:nvSpPr>
        <p:spPr>
          <a:xfrm>
            <a:off x="280000" y="364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61" name="RSep6"/>
          <p:cNvSpPr/>
          <p:nvPr/>
        </p:nvSpPr>
        <p:spPr>
          <a:xfrm>
            <a:off x="280000" y="394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62" name="AN6"/>
          <p:cNvSpPr txBox="1"/>
          <p:nvPr/>
        </p:nvSpPr>
        <p:spPr>
          <a:xfrm>
            <a:off x="280000" y="364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{{GRP_AG_OMNICOM_2}}</a:t>
            </a:r>
          </a:p>
        </p:txBody>
      </p:sp>
      <p:sp>
        <p:nvSpPr>
          <p:cNvPr id="463" name="AW6"/>
          <p:cNvSpPr txBox="1"/>
          <p:nvPr/>
        </p:nvSpPr>
        <p:spPr>
          <a:xfrm>
            <a:off x="2630000" y="364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{{GRP_WC_OMNICOM_2}}</a:t>
            </a:r>
          </a:p>
        </p:txBody>
      </p:sp>
      <p:sp>
        <p:nvSpPr>
          <p:cNvPr id="464" name="AD6"/>
          <p:cNvSpPr txBox="1"/>
          <p:nvPr/>
        </p:nvSpPr>
        <p:spPr>
          <a:xfrm>
            <a:off x="3410000" y="364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{{GRP_DC_OMNICOM_2}}</a:t>
            </a:r>
          </a:p>
        </p:txBody>
      </p:sp>
      <p:sp>
        <p:nvSpPr>
          <p:cNvPr id="465" name="AB6"/>
          <p:cNvSpPr txBox="1"/>
          <p:nvPr/>
        </p:nvSpPr>
        <p:spPr>
          <a:xfrm>
            <a:off x="4230000" y="364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{{GRP_NBB_OMNICOM_2}}</a:t>
            </a:r>
          </a:p>
        </p:txBody>
      </p:sp>
      <p:sp>
        <p:nvSpPr>
          <p:cNvPr id="466" name="AWm6"/>
          <p:cNvSpPr txBox="1"/>
          <p:nvPr/>
        </p:nvSpPr>
        <p:spPr>
          <a:xfrm>
            <a:off x="5330000" y="364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{{GRP_WIN_OMNICOM_2}}</a:t>
            </a:r>
          </a:p>
        </p:txBody>
      </p:sp>
      <p:sp>
        <p:nvSpPr>
          <p:cNvPr id="467" name="ADm6"/>
          <p:cNvSpPr txBox="1"/>
          <p:nvPr/>
        </p:nvSpPr>
        <p:spPr>
          <a:xfrm>
            <a:off x="6250000" y="364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{{GRP_DEP_OMNICOM_2}}</a:t>
            </a:r>
          </a:p>
        </p:txBody>
      </p:sp>
      <p:sp>
        <p:nvSpPr>
          <p:cNvPr id="468" name="RBg7"/>
          <p:cNvSpPr/>
          <p:nvPr/>
        </p:nvSpPr>
        <p:spPr>
          <a:xfrm>
            <a:off x="280000" y="395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69" name="RSep7"/>
          <p:cNvSpPr/>
          <p:nvPr/>
        </p:nvSpPr>
        <p:spPr>
          <a:xfrm>
            <a:off x="280000" y="425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0" name="AN7"/>
          <p:cNvSpPr txBox="1"/>
          <p:nvPr/>
        </p:nvSpPr>
        <p:spPr>
          <a:xfrm>
            <a:off x="280000" y="395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{{GRP_AG_OMNICOM_3}}</a:t>
            </a:r>
          </a:p>
        </p:txBody>
      </p:sp>
      <p:sp>
        <p:nvSpPr>
          <p:cNvPr id="471" name="AW7"/>
          <p:cNvSpPr txBox="1"/>
          <p:nvPr/>
        </p:nvSpPr>
        <p:spPr>
          <a:xfrm>
            <a:off x="2630000" y="395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{{GRP_WC_OMNICOM_3}}</a:t>
            </a:r>
          </a:p>
        </p:txBody>
      </p:sp>
      <p:sp>
        <p:nvSpPr>
          <p:cNvPr id="472" name="AD7"/>
          <p:cNvSpPr txBox="1"/>
          <p:nvPr/>
        </p:nvSpPr>
        <p:spPr>
          <a:xfrm>
            <a:off x="3410000" y="395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{{GRP_DC_OMNICOM_3}}</a:t>
            </a:r>
          </a:p>
        </p:txBody>
      </p:sp>
      <p:sp>
        <p:nvSpPr>
          <p:cNvPr id="473" name="AB7"/>
          <p:cNvSpPr txBox="1"/>
          <p:nvPr/>
        </p:nvSpPr>
        <p:spPr>
          <a:xfrm>
            <a:off x="4230000" y="395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{{GRP_NBB_OMNICOM_3}}</a:t>
            </a:r>
          </a:p>
        </p:txBody>
      </p:sp>
      <p:sp>
        <p:nvSpPr>
          <p:cNvPr id="474" name="AWm7"/>
          <p:cNvSpPr txBox="1"/>
          <p:nvPr/>
        </p:nvSpPr>
        <p:spPr>
          <a:xfrm>
            <a:off x="5330000" y="395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{{GRP_WIN_OMNICOM_3}}</a:t>
            </a:r>
          </a:p>
        </p:txBody>
      </p:sp>
      <p:sp>
        <p:nvSpPr>
          <p:cNvPr id="475" name="ADm7"/>
          <p:cNvSpPr txBox="1"/>
          <p:nvPr/>
        </p:nvSpPr>
        <p:spPr>
          <a:xfrm>
            <a:off x="6250000" y="395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{{GRP_DEP_OMNICOM_3}}</a:t>
            </a:r>
          </a:p>
        </p:txBody>
      </p:sp>
      <p:sp>
        <p:nvSpPr>
          <p:cNvPr id="476" name="RBg8"/>
          <p:cNvSpPr/>
          <p:nvPr/>
        </p:nvSpPr>
        <p:spPr>
          <a:xfrm>
            <a:off x="280000" y="4290000"/>
            <a:ext cx="6999675" cy="40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7" name="RSep8"/>
          <p:cNvSpPr/>
          <p:nvPr/>
        </p:nvSpPr>
        <p:spPr>
          <a:xfrm>
            <a:off x="280000" y="468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8" name="Stripe8"/>
          <p:cNvSpPr/>
          <p:nvPr/>
        </p:nvSpPr>
        <p:spPr>
          <a:xfrm>
            <a:off x="280000" y="4290000"/>
            <a:ext cx="14000" cy="400000"/>
          </a:xfrm>
          <a:prstGeom prst="rect">
            <a:avLst/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9" name="GN8"/>
          <p:cNvSpPr txBox="1"/>
          <p:nvPr/>
        </p:nvSpPr>
        <p:spPr>
          <a:xfrm>
            <a:off x="280000" y="4290000"/>
            <a:ext cx="235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220000" tIns="0" rIns="40000" bIns="0" anchor="ctr"/>
          <a:lstStyle/>
          <a:p>
            <a:pPr algn="l"/>
            <a:r>
              <a:rPr lang="en-US" sz="1050" b="0" dirty="0">
                <a:solidFill>
                  <a:srgbClr val="5A6A66"/>
                </a:solidFill>
                <a:latin typeface="Calibri"/>
              </a:rPr>
              <a:t>Omnicom Media Gr</a:t>
            </a:r>
          </a:p>
        </p:txBody>
      </p:sp>
      <p:sp>
        <p:nvSpPr>
          <p:cNvPr id="480" name="GW8"/>
          <p:cNvSpPr txBox="1"/>
          <p:nvPr/>
        </p:nvSpPr>
        <p:spPr>
          <a:xfrm>
            <a:off x="2630000" y="4290000"/>
            <a:ext cx="7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1F2D2A"/>
                </a:solidFill>
                <a:latin typeface="Calibri"/>
              </a:rPr>
              <a:t>17</a:t>
            </a:r>
          </a:p>
        </p:txBody>
      </p:sp>
      <p:sp>
        <p:nvSpPr>
          <p:cNvPr id="481" name="GD8"/>
          <p:cNvSpPr txBox="1"/>
          <p:nvPr/>
        </p:nvSpPr>
        <p:spPr>
          <a:xfrm>
            <a:off x="3410000" y="4290000"/>
            <a:ext cx="82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1F2D2A"/>
                </a:solidFill>
                <a:latin typeface="Calibri"/>
              </a:rPr>
              <a:t>7</a:t>
            </a:r>
          </a:p>
        </p:txBody>
      </p:sp>
      <p:sp>
        <p:nvSpPr>
          <p:cNvPr id="482" name="GB8"/>
          <p:cNvSpPr txBox="1"/>
          <p:nvPr/>
        </p:nvSpPr>
        <p:spPr>
          <a:xfrm>
            <a:off x="4230000" y="4290000"/>
            <a:ext cx="11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00" b="1" dirty="0">
                <a:solidFill>
                  <a:srgbClr val="3A5E52"/>
                </a:solidFill>
                <a:latin typeface="Calibri"/>
              </a:rPr>
              <a:t>+23M$</a:t>
            </a:r>
          </a:p>
        </p:txBody>
      </p:sp>
      <p:sp>
        <p:nvSpPr>
          <p:cNvPr id="483" name="GWm8"/>
          <p:cNvSpPr txBox="1"/>
          <p:nvPr/>
        </p:nvSpPr>
        <p:spPr>
          <a:xfrm>
            <a:off x="5330000" y="4290000"/>
            <a:ext cx="92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+51</a:t>
            </a:r>
          </a:p>
        </p:txBody>
      </p:sp>
      <p:sp>
        <p:nvSpPr>
          <p:cNvPr id="484" name="GDm8"/>
          <p:cNvSpPr txBox="1"/>
          <p:nvPr/>
        </p:nvSpPr>
        <p:spPr>
          <a:xfrm>
            <a:off x="6250000" y="4290000"/>
            <a:ext cx="1029675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-28</a:t>
            </a:r>
          </a:p>
        </p:txBody>
      </p:sp>
      <p:sp>
        <p:nvSpPr>
          <p:cNvPr id="485" name="RBg9"/>
          <p:cNvSpPr/>
          <p:nvPr/>
        </p:nvSpPr>
        <p:spPr>
          <a:xfrm>
            <a:off x="280000" y="469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86" name="RSep9"/>
          <p:cNvSpPr/>
          <p:nvPr/>
        </p:nvSpPr>
        <p:spPr>
          <a:xfrm>
            <a:off x="280000" y="499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87" name="AN9"/>
          <p:cNvSpPr txBox="1"/>
          <p:nvPr/>
        </p:nvSpPr>
        <p:spPr>
          <a:xfrm>
            <a:off x="280000" y="469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PHD</a:t>
            </a:r>
          </a:p>
        </p:txBody>
      </p:sp>
      <p:sp>
        <p:nvSpPr>
          <p:cNvPr id="488" name="AW9"/>
          <p:cNvSpPr txBox="1"/>
          <p:nvPr/>
        </p:nvSpPr>
        <p:spPr>
          <a:xfrm>
            <a:off x="2630000" y="469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  <p:sp>
        <p:nvSpPr>
          <p:cNvPr id="489" name="AD9"/>
          <p:cNvSpPr txBox="1"/>
          <p:nvPr/>
        </p:nvSpPr>
        <p:spPr>
          <a:xfrm>
            <a:off x="3410000" y="469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1</a:t>
            </a:r>
          </a:p>
        </p:txBody>
      </p:sp>
      <p:sp>
        <p:nvSpPr>
          <p:cNvPr id="490" name="AB9"/>
          <p:cNvSpPr txBox="1"/>
          <p:nvPr/>
        </p:nvSpPr>
        <p:spPr>
          <a:xfrm>
            <a:off x="4230000" y="469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+17M$</a:t>
            </a:r>
          </a:p>
        </p:txBody>
      </p:sp>
      <p:sp>
        <p:nvSpPr>
          <p:cNvPr id="491" name="AWm9"/>
          <p:cNvSpPr txBox="1"/>
          <p:nvPr/>
        </p:nvSpPr>
        <p:spPr>
          <a:xfrm>
            <a:off x="5330000" y="469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+26</a:t>
            </a:r>
          </a:p>
        </p:txBody>
      </p:sp>
      <p:sp>
        <p:nvSpPr>
          <p:cNvPr id="492" name="ADm9"/>
          <p:cNvSpPr txBox="1"/>
          <p:nvPr/>
        </p:nvSpPr>
        <p:spPr>
          <a:xfrm>
            <a:off x="6250000" y="469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-9</a:t>
            </a:r>
          </a:p>
        </p:txBody>
      </p:sp>
      <p:sp>
        <p:nvSpPr>
          <p:cNvPr id="493" name="RBg10"/>
          <p:cNvSpPr/>
          <p:nvPr/>
        </p:nvSpPr>
        <p:spPr>
          <a:xfrm>
            <a:off x="280000" y="500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4" name="RSep10"/>
          <p:cNvSpPr/>
          <p:nvPr/>
        </p:nvSpPr>
        <p:spPr>
          <a:xfrm>
            <a:off x="280000" y="530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5" name="AN10"/>
          <p:cNvSpPr txBox="1"/>
          <p:nvPr/>
        </p:nvSpPr>
        <p:spPr>
          <a:xfrm>
            <a:off x="280000" y="500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OMD</a:t>
            </a:r>
          </a:p>
        </p:txBody>
      </p:sp>
      <p:sp>
        <p:nvSpPr>
          <p:cNvPr id="496" name="AW10"/>
          <p:cNvSpPr txBox="1"/>
          <p:nvPr/>
        </p:nvSpPr>
        <p:spPr>
          <a:xfrm>
            <a:off x="2630000" y="500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  <p:sp>
        <p:nvSpPr>
          <p:cNvPr id="497" name="AD10"/>
          <p:cNvSpPr txBox="1"/>
          <p:nvPr/>
        </p:nvSpPr>
        <p:spPr>
          <a:xfrm>
            <a:off x="3410000" y="500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sp>
        <p:nvSpPr>
          <p:cNvPr id="498" name="AB10"/>
          <p:cNvSpPr txBox="1"/>
          <p:nvPr/>
        </p:nvSpPr>
        <p:spPr>
          <a:xfrm>
            <a:off x="4230000" y="500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+6M$</a:t>
            </a:r>
          </a:p>
        </p:txBody>
      </p:sp>
      <p:sp>
        <p:nvSpPr>
          <p:cNvPr id="499" name="AWm10"/>
          <p:cNvSpPr txBox="1"/>
          <p:nvPr/>
        </p:nvSpPr>
        <p:spPr>
          <a:xfrm>
            <a:off x="5330000" y="500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+25</a:t>
            </a:r>
          </a:p>
        </p:txBody>
      </p:sp>
      <p:sp>
        <p:nvSpPr>
          <p:cNvPr id="500" name="ADm10"/>
          <p:cNvSpPr txBox="1"/>
          <p:nvPr/>
        </p:nvSpPr>
        <p:spPr>
          <a:xfrm>
            <a:off x="6250000" y="500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-19</a:t>
            </a:r>
          </a:p>
        </p:txBody>
      </p:sp>
      <p:sp>
        <p:nvSpPr>
          <p:cNvPr id="501" name="RBg11"/>
          <p:cNvSpPr/>
          <p:nvPr/>
        </p:nvSpPr>
        <p:spPr>
          <a:xfrm>
            <a:off x="280000" y="5370000"/>
            <a:ext cx="6999675" cy="48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2" name="RSep11"/>
          <p:cNvSpPr/>
          <p:nvPr/>
        </p:nvSpPr>
        <p:spPr>
          <a:xfrm>
            <a:off x="280000" y="584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3" name="Stripe11"/>
          <p:cNvSpPr/>
          <p:nvPr/>
        </p:nvSpPr>
        <p:spPr>
          <a:xfrm>
            <a:off x="280000" y="5370000"/>
            <a:ext cx="22000" cy="480000"/>
          </a:xfrm>
          <a:prstGeom prst="rect">
            <a:avLst/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4" name="GN11"/>
          <p:cNvSpPr txBox="1"/>
          <p:nvPr/>
        </p:nvSpPr>
        <p:spPr>
          <a:xfrm>
            <a:off x="280000" y="537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3E7A30"/>
                </a:solidFill>
                <a:latin typeface="Calibri"/>
              </a:rPr>
              <a:t>{{GRP_RANK_DENTSU}}  {{GRP_NAME_DENTSU}}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/>
            </a:r>
          </a:p>
        </p:txBody>
      </p:sp>
      <p:sp>
        <p:nvSpPr>
          <p:cNvPr id="505" name="GW11"/>
          <p:cNvSpPr txBox="1"/>
          <p:nvPr/>
        </p:nvSpPr>
        <p:spPr>
          <a:xfrm>
            <a:off x="2630000" y="537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{{GRP_WC_DENTSU}}</a:t>
            </a:r>
          </a:p>
        </p:txBody>
      </p:sp>
      <p:sp>
        <p:nvSpPr>
          <p:cNvPr id="506" name="GD11"/>
          <p:cNvSpPr txBox="1"/>
          <p:nvPr/>
        </p:nvSpPr>
        <p:spPr>
          <a:xfrm>
            <a:off x="3410000" y="537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{{GRP_DC_DENTSU}}</a:t>
            </a:r>
          </a:p>
        </p:txBody>
      </p:sp>
      <p:sp>
        <p:nvSpPr>
          <p:cNvPr id="507" name="GB11"/>
          <p:cNvSpPr txBox="1"/>
          <p:nvPr/>
        </p:nvSpPr>
        <p:spPr>
          <a:xfrm>
            <a:off x="4230000" y="537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3A5E52"/>
                </a:solidFill>
                <a:latin typeface="Calibri"/>
              </a:rPr>
              <a:t>{{GRP_NBB_DENTSU}}</a:t>
            </a:r>
          </a:p>
        </p:txBody>
      </p:sp>
      <p:sp>
        <p:nvSpPr>
          <p:cNvPr id="508" name="GWm11"/>
          <p:cNvSpPr txBox="1"/>
          <p:nvPr/>
        </p:nvSpPr>
        <p:spPr>
          <a:xfrm>
            <a:off x="5330000" y="537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{{GRP_WINS_DENTSU}}</a:t>
            </a:r>
          </a:p>
        </p:txBody>
      </p:sp>
      <p:sp>
        <p:nvSpPr>
          <p:cNvPr id="509" name="GDm11"/>
          <p:cNvSpPr txBox="1"/>
          <p:nvPr/>
        </p:nvSpPr>
        <p:spPr>
          <a:xfrm>
            <a:off x="6250000" y="537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{{GRP_DEPS_DENTSU}}</a:t>
            </a:r>
          </a:p>
        </p:txBody>
      </p:sp>
      <p:sp>
        <p:nvSpPr>
          <p:cNvPr id="510" name="RBg12"/>
          <p:cNvSpPr/>
          <p:nvPr/>
        </p:nvSpPr>
        <p:spPr>
          <a:xfrm>
            <a:off x="280000" y="5850000"/>
            <a:ext cx="6999675" cy="3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1" name="RSep12"/>
          <p:cNvSpPr/>
          <p:nvPr/>
        </p:nvSpPr>
        <p:spPr>
          <a:xfrm>
            <a:off x="280000" y="615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2" name="AN12"/>
          <p:cNvSpPr txBox="1"/>
          <p:nvPr/>
        </p:nvSpPr>
        <p:spPr>
          <a:xfrm>
            <a:off x="280000" y="585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{{GRP_AG_DENTSU_1}}</a:t>
            </a:r>
          </a:p>
        </p:txBody>
      </p:sp>
      <p:sp>
        <p:nvSpPr>
          <p:cNvPr id="513" name="AW12"/>
          <p:cNvSpPr txBox="1"/>
          <p:nvPr/>
        </p:nvSpPr>
        <p:spPr>
          <a:xfrm>
            <a:off x="2630000" y="585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{{GRP_WC_DENTSU_1}}</a:t>
            </a:r>
          </a:p>
        </p:txBody>
      </p:sp>
      <p:sp>
        <p:nvSpPr>
          <p:cNvPr id="514" name="AD12"/>
          <p:cNvSpPr txBox="1"/>
          <p:nvPr/>
        </p:nvSpPr>
        <p:spPr>
          <a:xfrm>
            <a:off x="3410000" y="585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{{GRP_DC_DENTSU_1}}</a:t>
            </a:r>
          </a:p>
        </p:txBody>
      </p:sp>
      <p:sp>
        <p:nvSpPr>
          <p:cNvPr id="515" name="AB12"/>
          <p:cNvSpPr txBox="1"/>
          <p:nvPr/>
        </p:nvSpPr>
        <p:spPr>
          <a:xfrm>
            <a:off x="4230000" y="585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{{GRP_NBB_DENTSU_1}}</a:t>
            </a:r>
          </a:p>
        </p:txBody>
      </p:sp>
      <p:sp>
        <p:nvSpPr>
          <p:cNvPr id="516" name="AWm12"/>
          <p:cNvSpPr txBox="1"/>
          <p:nvPr/>
        </p:nvSpPr>
        <p:spPr>
          <a:xfrm>
            <a:off x="5330000" y="585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{{GRP_WIN_DENTSU_1}}</a:t>
            </a:r>
          </a:p>
        </p:txBody>
      </p:sp>
      <p:sp>
        <p:nvSpPr>
          <p:cNvPr id="517" name="ADm12"/>
          <p:cNvSpPr txBox="1"/>
          <p:nvPr/>
        </p:nvSpPr>
        <p:spPr>
          <a:xfrm>
            <a:off x="6250000" y="585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{{GRP_DEP_DENTSU_1}}</a:t>
            </a:r>
          </a:p>
        </p:txBody>
      </p:sp>
      <p:sp>
        <p:nvSpPr>
          <p:cNvPr id="518" name="RBg13"/>
          <p:cNvSpPr/>
          <p:nvPr/>
        </p:nvSpPr>
        <p:spPr>
          <a:xfrm>
            <a:off x="280000" y="6160000"/>
            <a:ext cx="6999675" cy="3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9" name="RSep13"/>
          <p:cNvSpPr/>
          <p:nvPr/>
        </p:nvSpPr>
        <p:spPr>
          <a:xfrm>
            <a:off x="280000" y="646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0" name="AN13"/>
          <p:cNvSpPr txBox="1"/>
          <p:nvPr/>
        </p:nvSpPr>
        <p:spPr>
          <a:xfrm>
            <a:off x="280000" y="616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{{GRP_AG_DENTSU_2}}</a:t>
            </a:r>
          </a:p>
        </p:txBody>
      </p:sp>
      <p:sp>
        <p:nvSpPr>
          <p:cNvPr id="521" name="AW13"/>
          <p:cNvSpPr txBox="1"/>
          <p:nvPr/>
        </p:nvSpPr>
        <p:spPr>
          <a:xfrm>
            <a:off x="2630000" y="616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{{GRP_WC_DENTSU_2}}</a:t>
            </a:r>
          </a:p>
        </p:txBody>
      </p:sp>
      <p:sp>
        <p:nvSpPr>
          <p:cNvPr id="522" name="AD13"/>
          <p:cNvSpPr txBox="1"/>
          <p:nvPr/>
        </p:nvSpPr>
        <p:spPr>
          <a:xfrm>
            <a:off x="3410000" y="616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{{GRP_DC_DENTSU_2}}</a:t>
            </a:r>
          </a:p>
        </p:txBody>
      </p:sp>
      <p:sp>
        <p:nvSpPr>
          <p:cNvPr id="523" name="AB13"/>
          <p:cNvSpPr txBox="1"/>
          <p:nvPr/>
        </p:nvSpPr>
        <p:spPr>
          <a:xfrm>
            <a:off x="4230000" y="616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{{GRP_NBB_DENTSU_2}}</a:t>
            </a:r>
          </a:p>
        </p:txBody>
      </p:sp>
      <p:sp>
        <p:nvSpPr>
          <p:cNvPr id="524" name="AWm13"/>
          <p:cNvSpPr txBox="1"/>
          <p:nvPr/>
        </p:nvSpPr>
        <p:spPr>
          <a:xfrm>
            <a:off x="5330000" y="616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{{GRP_WIN_DENTSU_2}}</a:t>
            </a:r>
          </a:p>
        </p:txBody>
      </p:sp>
      <p:sp>
        <p:nvSpPr>
          <p:cNvPr id="525" name="ADm13"/>
          <p:cNvSpPr txBox="1"/>
          <p:nvPr/>
        </p:nvSpPr>
        <p:spPr>
          <a:xfrm>
            <a:off x="6250000" y="616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666666"/>
                </a:solidFill>
                <a:latin typeface="Calibri"/>
              </a:rPr>
              <a:t>{{GRP_DEP_DENTSU_2}}</a:t>
            </a:r>
          </a:p>
        </p:txBody>
      </p:sp>
      <p:sp>
        <p:nvSpPr>
          <p:cNvPr id="526" name="RBg14"/>
          <p:cNvSpPr/>
          <p:nvPr/>
        </p:nvSpPr>
        <p:spPr>
          <a:xfrm>
            <a:off x="280000" y="6470000"/>
            <a:ext cx="6999675" cy="3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7" name="RSep14"/>
          <p:cNvSpPr/>
          <p:nvPr/>
        </p:nvSpPr>
        <p:spPr>
          <a:xfrm>
            <a:off x="280000" y="677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8" name="AN14"/>
          <p:cNvSpPr txBox="1"/>
          <p:nvPr/>
        </p:nvSpPr>
        <p:spPr>
          <a:xfrm>
            <a:off x="280000" y="647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{{GRP_AG_DENTSU_3}}</a:t>
            </a:r>
          </a:p>
        </p:txBody>
      </p:sp>
      <p:sp>
        <p:nvSpPr>
          <p:cNvPr id="529" name="AW14"/>
          <p:cNvSpPr txBox="1"/>
          <p:nvPr/>
        </p:nvSpPr>
        <p:spPr>
          <a:xfrm>
            <a:off x="2630000" y="647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{{GRP_WC_DENTSU_3}}</a:t>
            </a:r>
          </a:p>
        </p:txBody>
      </p:sp>
      <p:sp>
        <p:nvSpPr>
          <p:cNvPr id="530" name="AD14"/>
          <p:cNvSpPr txBox="1"/>
          <p:nvPr/>
        </p:nvSpPr>
        <p:spPr>
          <a:xfrm>
            <a:off x="3410000" y="647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{{GRP_DC_DENTSU_3}}</a:t>
            </a:r>
          </a:p>
        </p:txBody>
      </p:sp>
      <p:sp>
        <p:nvSpPr>
          <p:cNvPr id="531" name="AB14"/>
          <p:cNvSpPr txBox="1"/>
          <p:nvPr/>
        </p:nvSpPr>
        <p:spPr>
          <a:xfrm>
            <a:off x="4230000" y="647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A02828"/>
                </a:solidFill>
                <a:latin typeface="Calibri"/>
              </a:rPr>
              <a:t>{{GRP_NBB_DENTSU_3}}</a:t>
            </a:r>
          </a:p>
        </p:txBody>
      </p:sp>
      <p:sp>
        <p:nvSpPr>
          <p:cNvPr id="532" name="AWm14"/>
          <p:cNvSpPr txBox="1"/>
          <p:nvPr/>
        </p:nvSpPr>
        <p:spPr>
          <a:xfrm>
            <a:off x="5330000" y="647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{{GRP_WIN_DENTSU_3}}</a:t>
            </a:r>
          </a:p>
        </p:txBody>
      </p:sp>
      <p:sp>
        <p:nvSpPr>
          <p:cNvPr id="533" name="ADm14"/>
          <p:cNvSpPr txBox="1"/>
          <p:nvPr/>
        </p:nvSpPr>
        <p:spPr>
          <a:xfrm>
            <a:off x="6250000" y="647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{{GRP_DEP_DENTSU_3}}</a:t>
            </a:r>
          </a:p>
        </p:txBody>
      </p:sp>
      <p:sp>
        <p:nvSpPr>
          <p:cNvPr id="534" name="RBg15"/>
          <p:cNvSpPr/>
          <p:nvPr/>
        </p:nvSpPr>
        <p:spPr>
          <a:xfrm>
            <a:off x="280000" y="6810000"/>
            <a:ext cx="6999675" cy="40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5" name="RSep15"/>
          <p:cNvSpPr/>
          <p:nvPr/>
        </p:nvSpPr>
        <p:spPr>
          <a:xfrm>
            <a:off x="280000" y="720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6" name="Stripe15"/>
          <p:cNvSpPr/>
          <p:nvPr/>
        </p:nvSpPr>
        <p:spPr>
          <a:xfrm>
            <a:off x="280000" y="6810000"/>
            <a:ext cx="14000" cy="400000"/>
          </a:xfrm>
          <a:prstGeom prst="rect">
            <a:avLst/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7" name="GN15"/>
          <p:cNvSpPr txBox="1"/>
          <p:nvPr/>
        </p:nvSpPr>
        <p:spPr>
          <a:xfrm>
            <a:off x="280000" y="6810000"/>
            <a:ext cx="235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220000" tIns="0" rIns="40000" bIns="0" anchor="ctr"/>
          <a:lstStyle/>
          <a:p>
            <a:pPr algn="l"/>
            <a:r>
              <a:rPr lang="en-US" sz="1050" b="0" dirty="0">
                <a:solidFill>
                  <a:srgbClr val="5A6A66"/>
                </a:solidFill>
                <a:latin typeface="Calibri"/>
              </a:rPr>
              <a:t>Mediabrands</a:t>
            </a:r>
          </a:p>
        </p:txBody>
      </p:sp>
      <p:sp>
        <p:nvSpPr>
          <p:cNvPr id="538" name="GW15"/>
          <p:cNvSpPr txBox="1"/>
          <p:nvPr/>
        </p:nvSpPr>
        <p:spPr>
          <a:xfrm>
            <a:off x="2630000" y="6810000"/>
            <a:ext cx="7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1F2D2A"/>
                </a:solidFill>
                <a:latin typeface="Calibri"/>
              </a:rPr>
              <a:t>6</a:t>
            </a:r>
          </a:p>
        </p:txBody>
      </p:sp>
      <p:sp>
        <p:nvSpPr>
          <p:cNvPr id="539" name="GD15"/>
          <p:cNvSpPr txBox="1"/>
          <p:nvPr/>
        </p:nvSpPr>
        <p:spPr>
          <a:xfrm>
            <a:off x="3410000" y="6810000"/>
            <a:ext cx="82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1F2D2A"/>
                </a:solidFill>
                <a:latin typeface="Calibri"/>
              </a:rPr>
              <a:t>2</a:t>
            </a:r>
          </a:p>
        </p:txBody>
      </p:sp>
      <p:sp>
        <p:nvSpPr>
          <p:cNvPr id="540" name="GB15"/>
          <p:cNvSpPr txBox="1"/>
          <p:nvPr/>
        </p:nvSpPr>
        <p:spPr>
          <a:xfrm>
            <a:off x="4230000" y="6810000"/>
            <a:ext cx="11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00" b="1" dirty="0">
                <a:solidFill>
                  <a:srgbClr val="3A5E52"/>
                </a:solidFill>
                <a:latin typeface="Calibri"/>
              </a:rPr>
              <a:t>+13M$</a:t>
            </a:r>
          </a:p>
        </p:txBody>
      </p:sp>
      <p:sp>
        <p:nvSpPr>
          <p:cNvPr id="541" name="GWm15"/>
          <p:cNvSpPr txBox="1"/>
          <p:nvPr/>
        </p:nvSpPr>
        <p:spPr>
          <a:xfrm>
            <a:off x="5330000" y="6810000"/>
            <a:ext cx="92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+25</a:t>
            </a:r>
          </a:p>
        </p:txBody>
      </p:sp>
      <p:sp>
        <p:nvSpPr>
          <p:cNvPr id="542" name="GDm15"/>
          <p:cNvSpPr txBox="1"/>
          <p:nvPr/>
        </p:nvSpPr>
        <p:spPr>
          <a:xfrm>
            <a:off x="6250000" y="6810000"/>
            <a:ext cx="1029675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-12</a:t>
            </a:r>
          </a:p>
        </p:txBody>
      </p:sp>
      <p:sp>
        <p:nvSpPr>
          <p:cNvPr id="543" name="RBg16"/>
          <p:cNvSpPr/>
          <p:nvPr/>
        </p:nvSpPr>
        <p:spPr>
          <a:xfrm>
            <a:off x="280000" y="7210000"/>
            <a:ext cx="6999675" cy="3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4" name="RSep16"/>
          <p:cNvSpPr/>
          <p:nvPr/>
        </p:nvSpPr>
        <p:spPr>
          <a:xfrm>
            <a:off x="280000" y="751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5" name="AN16"/>
          <p:cNvSpPr txBox="1"/>
          <p:nvPr/>
        </p:nvSpPr>
        <p:spPr>
          <a:xfrm>
            <a:off x="280000" y="721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UM incl. Init.</a:t>
            </a:r>
          </a:p>
        </p:txBody>
      </p:sp>
      <p:sp>
        <p:nvSpPr>
          <p:cNvPr id="546" name="AW16"/>
          <p:cNvSpPr txBox="1"/>
          <p:nvPr/>
        </p:nvSpPr>
        <p:spPr>
          <a:xfrm>
            <a:off x="2630000" y="721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sp>
        <p:nvSpPr>
          <p:cNvPr id="547" name="AD16"/>
          <p:cNvSpPr txBox="1"/>
          <p:nvPr/>
        </p:nvSpPr>
        <p:spPr>
          <a:xfrm>
            <a:off x="3410000" y="721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548" name="AB16"/>
          <p:cNvSpPr txBox="1"/>
          <p:nvPr/>
        </p:nvSpPr>
        <p:spPr>
          <a:xfrm>
            <a:off x="4230000" y="721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+13M$</a:t>
            </a:r>
          </a:p>
        </p:txBody>
      </p:sp>
      <p:sp>
        <p:nvSpPr>
          <p:cNvPr id="549" name="AWm16"/>
          <p:cNvSpPr txBox="1"/>
          <p:nvPr/>
        </p:nvSpPr>
        <p:spPr>
          <a:xfrm>
            <a:off x="5330000" y="721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+25</a:t>
            </a:r>
          </a:p>
        </p:txBody>
      </p:sp>
      <p:sp>
        <p:nvSpPr>
          <p:cNvPr id="550" name="ADm16"/>
          <p:cNvSpPr txBox="1"/>
          <p:nvPr/>
        </p:nvSpPr>
        <p:spPr>
          <a:xfrm>
            <a:off x="6250000" y="721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-12</a:t>
            </a:r>
          </a:p>
        </p:txBody>
      </p:sp>
      <p:sp>
        <p:nvSpPr>
          <p:cNvPr id="551" name="RBg17"/>
          <p:cNvSpPr/>
          <p:nvPr/>
        </p:nvSpPr>
        <p:spPr>
          <a:xfrm>
            <a:off x="280000" y="7580000"/>
            <a:ext cx="6999675" cy="480000"/>
          </a:xfrm>
          <a:prstGeom prst="rect">
            <a:avLst/>
          </a:prstGeom>
          <a:solidFill>
            <a:srgbClr val="DCB9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2" name="RSep17"/>
          <p:cNvSpPr/>
          <p:nvPr/>
        </p:nvSpPr>
        <p:spPr>
          <a:xfrm>
            <a:off x="280000" y="805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3" name="Stripe17"/>
          <p:cNvSpPr/>
          <p:nvPr/>
        </p:nvSpPr>
        <p:spPr>
          <a:xfrm>
            <a:off x="280000" y="7580000"/>
            <a:ext cx="22000" cy="480000"/>
          </a:xfrm>
          <a:prstGeom prst="rect">
            <a:avLst/>
          </a:prstGeom>
          <a:solidFill>
            <a:srgbClr val="6E30B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4" name="GN17"/>
          <p:cNvSpPr txBox="1"/>
          <p:nvPr/>
        </p:nvSpPr>
        <p:spPr>
          <a:xfrm>
            <a:off x="280000" y="758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6E30B8"/>
                </a:solidFill>
                <a:latin typeface="Calibri"/>
              </a:rPr>
              <a:t>{{GRP_RANK_HAVAS}}  {{GRP_NAME_HAVAS}}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/>
            </a:r>
          </a:p>
        </p:txBody>
      </p:sp>
      <p:sp>
        <p:nvSpPr>
          <p:cNvPr id="555" name="GW17"/>
          <p:cNvSpPr txBox="1"/>
          <p:nvPr/>
        </p:nvSpPr>
        <p:spPr>
          <a:xfrm>
            <a:off x="2630000" y="758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{{GRP_WC_HAVAS}}</a:t>
            </a:r>
          </a:p>
        </p:txBody>
      </p:sp>
      <p:sp>
        <p:nvSpPr>
          <p:cNvPr id="556" name="GD17"/>
          <p:cNvSpPr txBox="1"/>
          <p:nvPr/>
        </p:nvSpPr>
        <p:spPr>
          <a:xfrm>
            <a:off x="3410000" y="758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{{GRP_DC_HAVAS}}</a:t>
            </a:r>
          </a:p>
        </p:txBody>
      </p:sp>
      <p:sp>
        <p:nvSpPr>
          <p:cNvPr id="557" name="GB17"/>
          <p:cNvSpPr txBox="1"/>
          <p:nvPr/>
        </p:nvSpPr>
        <p:spPr>
          <a:xfrm>
            <a:off x="4230000" y="758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888888"/>
                </a:solidFill>
                <a:latin typeface="Calibri"/>
              </a:rPr>
              <a:t>{{GRP_NBB_HAVAS}}</a:t>
            </a:r>
          </a:p>
        </p:txBody>
      </p:sp>
      <p:sp>
        <p:nvSpPr>
          <p:cNvPr id="558" name="GWm17"/>
          <p:cNvSpPr txBox="1"/>
          <p:nvPr/>
        </p:nvSpPr>
        <p:spPr>
          <a:xfrm>
            <a:off x="5330000" y="758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{{GRP_WINS_HAVAS}}</a:t>
            </a:r>
          </a:p>
        </p:txBody>
      </p:sp>
      <p:sp>
        <p:nvSpPr>
          <p:cNvPr id="559" name="GDm17"/>
          <p:cNvSpPr txBox="1"/>
          <p:nvPr/>
        </p:nvSpPr>
        <p:spPr>
          <a:xfrm>
            <a:off x="6250000" y="758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{{GRP_DEPS_HAVAS}}</a:t>
            </a:r>
          </a:p>
        </p:txBody>
      </p:sp>
      <p:sp>
        <p:nvSpPr>
          <p:cNvPr id="560" name="RBg18"/>
          <p:cNvSpPr/>
          <p:nvPr/>
        </p:nvSpPr>
        <p:spPr>
          <a:xfrm>
            <a:off x="280000" y="8060000"/>
            <a:ext cx="6999675" cy="310000"/>
          </a:xfrm>
          <a:prstGeom prst="rect">
            <a:avLst/>
          </a:prstGeom>
          <a:solidFill>
            <a:srgbClr val="DCB9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1" name="RSep18"/>
          <p:cNvSpPr/>
          <p:nvPr/>
        </p:nvSpPr>
        <p:spPr>
          <a:xfrm>
            <a:off x="280000" y="836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2" name="AN18"/>
          <p:cNvSpPr txBox="1"/>
          <p:nvPr/>
        </p:nvSpPr>
        <p:spPr>
          <a:xfrm>
            <a:off x="280000" y="806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{{GRP_AG_HAVAS_1}}</a:t>
            </a:r>
          </a:p>
        </p:txBody>
      </p:sp>
      <p:sp>
        <p:nvSpPr>
          <p:cNvPr id="563" name="AW18"/>
          <p:cNvSpPr txBox="1"/>
          <p:nvPr/>
        </p:nvSpPr>
        <p:spPr>
          <a:xfrm>
            <a:off x="2630000" y="806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{{GRP_WC_HAVAS_1}}</a:t>
            </a:r>
          </a:p>
        </p:txBody>
      </p:sp>
      <p:sp>
        <p:nvSpPr>
          <p:cNvPr id="564" name="AD18"/>
          <p:cNvSpPr txBox="1"/>
          <p:nvPr/>
        </p:nvSpPr>
        <p:spPr>
          <a:xfrm>
            <a:off x="3410000" y="806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{{GRP_DC_HAVAS_1}}</a:t>
            </a:r>
          </a:p>
        </p:txBody>
      </p:sp>
      <p:sp>
        <p:nvSpPr>
          <p:cNvPr id="565" name="AB18"/>
          <p:cNvSpPr txBox="1"/>
          <p:nvPr/>
        </p:nvSpPr>
        <p:spPr>
          <a:xfrm>
            <a:off x="4230000" y="806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Calibri"/>
              </a:rPr>
              <a:t>{{GRP_NBB_HAVAS_1}}</a:t>
            </a:r>
          </a:p>
        </p:txBody>
      </p:sp>
      <p:sp>
        <p:nvSpPr>
          <p:cNvPr id="566" name="AWm18"/>
          <p:cNvSpPr txBox="1"/>
          <p:nvPr/>
        </p:nvSpPr>
        <p:spPr>
          <a:xfrm>
            <a:off x="5330000" y="806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{{GRP_WIN_HAVAS_1}}</a:t>
            </a:r>
          </a:p>
        </p:txBody>
      </p:sp>
      <p:sp>
        <p:nvSpPr>
          <p:cNvPr id="567" name="ADm18"/>
          <p:cNvSpPr txBox="1"/>
          <p:nvPr/>
        </p:nvSpPr>
        <p:spPr>
          <a:xfrm>
            <a:off x="6250000" y="806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{{GRP_DEP_HAVAS_1}}</a:t>
            </a:r>
          </a:p>
        </p:txBody>
      </p:sp>
      <p:sp>
        <p:nvSpPr>
          <p:cNvPr id="568" name="RBg19"/>
          <p:cNvSpPr/>
          <p:nvPr/>
        </p:nvSpPr>
        <p:spPr>
          <a:xfrm>
            <a:off x="280000" y="8430000"/>
            <a:ext cx="6999675" cy="48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9" name="RSep19"/>
          <p:cNvSpPr/>
          <p:nvPr/>
        </p:nvSpPr>
        <p:spPr>
          <a:xfrm>
            <a:off x="280000" y="890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0" name="Stripe19"/>
          <p:cNvSpPr/>
          <p:nvPr/>
        </p:nvSpPr>
        <p:spPr>
          <a:xfrm>
            <a:off x="280000" y="8430000"/>
            <a:ext cx="22000" cy="480000"/>
          </a:xfrm>
          <a:prstGeom prst="rect">
            <a:avLst/>
          </a:prstGeom>
          <a:solidFill>
            <a:srgbClr val="A030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1" name="GN19"/>
          <p:cNvSpPr txBox="1"/>
          <p:nvPr/>
        </p:nvSpPr>
        <p:spPr>
          <a:xfrm>
            <a:off x="280000" y="843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A030A8"/>
                </a:solidFill>
                <a:latin typeface="Calibri"/>
              </a:rPr>
              <a:t>{{GRP_RANK_WPP}}  {{GRP_NAME_WPP}}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/>
            </a:r>
          </a:p>
        </p:txBody>
      </p:sp>
      <p:sp>
        <p:nvSpPr>
          <p:cNvPr id="572" name="GW19"/>
          <p:cNvSpPr txBox="1"/>
          <p:nvPr/>
        </p:nvSpPr>
        <p:spPr>
          <a:xfrm>
            <a:off x="2630000" y="843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{{GRP_WC_WPP}}</a:t>
            </a:r>
          </a:p>
        </p:txBody>
      </p:sp>
      <p:sp>
        <p:nvSpPr>
          <p:cNvPr id="573" name="GD19"/>
          <p:cNvSpPr txBox="1"/>
          <p:nvPr/>
        </p:nvSpPr>
        <p:spPr>
          <a:xfrm>
            <a:off x="3410000" y="843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{{GRP_DC_WPP}}</a:t>
            </a:r>
          </a:p>
        </p:txBody>
      </p:sp>
      <p:sp>
        <p:nvSpPr>
          <p:cNvPr id="574" name="GB19"/>
          <p:cNvSpPr txBox="1"/>
          <p:nvPr/>
        </p:nvSpPr>
        <p:spPr>
          <a:xfrm>
            <a:off x="4230000" y="843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A02828"/>
                </a:solidFill>
                <a:latin typeface="Calibri"/>
              </a:rPr>
              <a:t>{{GRP_NBB_WPP}}</a:t>
            </a:r>
          </a:p>
        </p:txBody>
      </p:sp>
      <p:sp>
        <p:nvSpPr>
          <p:cNvPr id="575" name="GWm19"/>
          <p:cNvSpPr txBox="1"/>
          <p:nvPr/>
        </p:nvSpPr>
        <p:spPr>
          <a:xfrm>
            <a:off x="5330000" y="843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{{GRP_WINS_WPP}}</a:t>
            </a:r>
          </a:p>
        </p:txBody>
      </p:sp>
      <p:sp>
        <p:nvSpPr>
          <p:cNvPr id="576" name="GDm19"/>
          <p:cNvSpPr txBox="1"/>
          <p:nvPr/>
        </p:nvSpPr>
        <p:spPr>
          <a:xfrm>
            <a:off x="6250000" y="843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{{GRP_DEPS_WPP}}</a:t>
            </a:r>
          </a:p>
        </p:txBody>
      </p:sp>
      <p:sp>
        <p:nvSpPr>
          <p:cNvPr id="577" name="RBg20"/>
          <p:cNvSpPr/>
          <p:nvPr/>
        </p:nvSpPr>
        <p:spPr>
          <a:xfrm>
            <a:off x="280000" y="8910000"/>
            <a:ext cx="6999675" cy="31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8" name="RSep20"/>
          <p:cNvSpPr/>
          <p:nvPr/>
        </p:nvSpPr>
        <p:spPr>
          <a:xfrm>
            <a:off x="280000" y="921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9" name="AN20"/>
          <p:cNvSpPr txBox="1"/>
          <p:nvPr/>
        </p:nvSpPr>
        <p:spPr>
          <a:xfrm>
            <a:off x="280000" y="891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{{GRP_AG_WPP_1}}</a:t>
            </a:r>
          </a:p>
        </p:txBody>
      </p:sp>
      <p:sp>
        <p:nvSpPr>
          <p:cNvPr id="580" name="AW20"/>
          <p:cNvSpPr txBox="1"/>
          <p:nvPr/>
        </p:nvSpPr>
        <p:spPr>
          <a:xfrm>
            <a:off x="2630000" y="891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{{GRP_WC_WPP_1}}</a:t>
            </a:r>
          </a:p>
        </p:txBody>
      </p:sp>
      <p:sp>
        <p:nvSpPr>
          <p:cNvPr id="581" name="AD20"/>
          <p:cNvSpPr txBox="1"/>
          <p:nvPr/>
        </p:nvSpPr>
        <p:spPr>
          <a:xfrm>
            <a:off x="3410000" y="891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{{GRP_DC_WPP_1}}</a:t>
            </a:r>
          </a:p>
        </p:txBody>
      </p:sp>
      <p:sp>
        <p:nvSpPr>
          <p:cNvPr id="582" name="AB20"/>
          <p:cNvSpPr txBox="1"/>
          <p:nvPr/>
        </p:nvSpPr>
        <p:spPr>
          <a:xfrm>
            <a:off x="4230000" y="891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{{GRP_NBB_WPP_1}}</a:t>
            </a:r>
          </a:p>
        </p:txBody>
      </p:sp>
      <p:sp>
        <p:nvSpPr>
          <p:cNvPr id="583" name="AWm20"/>
          <p:cNvSpPr txBox="1"/>
          <p:nvPr/>
        </p:nvSpPr>
        <p:spPr>
          <a:xfrm>
            <a:off x="5330000" y="891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{{GRP_WIN_WPP_1}}</a:t>
            </a:r>
          </a:p>
        </p:txBody>
      </p:sp>
      <p:sp>
        <p:nvSpPr>
          <p:cNvPr id="584" name="ADm20"/>
          <p:cNvSpPr txBox="1"/>
          <p:nvPr/>
        </p:nvSpPr>
        <p:spPr>
          <a:xfrm>
            <a:off x="6250000" y="891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{{GRP_DEP_WPP_1}}</a:t>
            </a:r>
          </a:p>
        </p:txBody>
      </p:sp>
      <p:sp>
        <p:nvSpPr>
          <p:cNvPr id="585" name="RBg21"/>
          <p:cNvSpPr/>
          <p:nvPr/>
        </p:nvSpPr>
        <p:spPr>
          <a:xfrm>
            <a:off x="280000" y="9220000"/>
            <a:ext cx="6999675" cy="31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6" name="RSep21"/>
          <p:cNvSpPr/>
          <p:nvPr/>
        </p:nvSpPr>
        <p:spPr>
          <a:xfrm>
            <a:off x="280000" y="952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7" name="AN21"/>
          <p:cNvSpPr txBox="1"/>
          <p:nvPr/>
        </p:nvSpPr>
        <p:spPr>
          <a:xfrm>
            <a:off x="280000" y="922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{{GRP_AG_WPP_2}}</a:t>
            </a:r>
          </a:p>
        </p:txBody>
      </p:sp>
      <p:sp>
        <p:nvSpPr>
          <p:cNvPr id="588" name="AW21"/>
          <p:cNvSpPr txBox="1"/>
          <p:nvPr/>
        </p:nvSpPr>
        <p:spPr>
          <a:xfrm>
            <a:off x="2630000" y="922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{{GRP_WC_WPP_2}}</a:t>
            </a:r>
          </a:p>
        </p:txBody>
      </p:sp>
      <p:sp>
        <p:nvSpPr>
          <p:cNvPr id="589" name="AD21"/>
          <p:cNvSpPr txBox="1"/>
          <p:nvPr/>
        </p:nvSpPr>
        <p:spPr>
          <a:xfrm>
            <a:off x="3410000" y="922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{{GRP_DC_WPP_2}}</a:t>
            </a:r>
          </a:p>
        </p:txBody>
      </p:sp>
      <p:sp>
        <p:nvSpPr>
          <p:cNvPr id="590" name="AB21"/>
          <p:cNvSpPr txBox="1"/>
          <p:nvPr/>
        </p:nvSpPr>
        <p:spPr>
          <a:xfrm>
            <a:off x="4230000" y="922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A02828"/>
                </a:solidFill>
                <a:latin typeface="Calibri"/>
              </a:rPr>
              <a:t>{{GRP_NBB_WPP_2}}</a:t>
            </a:r>
          </a:p>
        </p:txBody>
      </p:sp>
      <p:sp>
        <p:nvSpPr>
          <p:cNvPr id="591" name="AWm21"/>
          <p:cNvSpPr txBox="1"/>
          <p:nvPr/>
        </p:nvSpPr>
        <p:spPr>
          <a:xfrm>
            <a:off x="5330000" y="922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{{GRP_WIN_WPP_2}}</a:t>
            </a:r>
          </a:p>
        </p:txBody>
      </p:sp>
      <p:sp>
        <p:nvSpPr>
          <p:cNvPr id="592" name="ADm21"/>
          <p:cNvSpPr txBox="1"/>
          <p:nvPr/>
        </p:nvSpPr>
        <p:spPr>
          <a:xfrm>
            <a:off x="6250000" y="922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{{GRP_DEP_WPP_2}}</a:t>
            </a:r>
          </a:p>
        </p:txBody>
      </p:sp>
      <p:sp>
        <p:nvSpPr>
          <p:cNvPr id="593" name="RBg22"/>
          <p:cNvSpPr/>
          <p:nvPr/>
        </p:nvSpPr>
        <p:spPr>
          <a:xfrm>
            <a:off x="280000" y="9530000"/>
            <a:ext cx="6999675" cy="31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4" name="RSep22"/>
          <p:cNvSpPr/>
          <p:nvPr/>
        </p:nvSpPr>
        <p:spPr>
          <a:xfrm>
            <a:off x="280000" y="983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5" name="AN22"/>
          <p:cNvSpPr txBox="1"/>
          <p:nvPr/>
        </p:nvSpPr>
        <p:spPr>
          <a:xfrm>
            <a:off x="280000" y="953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{{GRP_AG_WPP_3}}</a:t>
            </a:r>
          </a:p>
        </p:txBody>
      </p:sp>
      <p:sp>
        <p:nvSpPr>
          <p:cNvPr id="596" name="AW22"/>
          <p:cNvSpPr txBox="1"/>
          <p:nvPr/>
        </p:nvSpPr>
        <p:spPr>
          <a:xfrm>
            <a:off x="2630000" y="953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{{GRP_WC_WPP_3}}</a:t>
            </a:r>
          </a:p>
        </p:txBody>
      </p:sp>
      <p:sp>
        <p:nvSpPr>
          <p:cNvPr id="597" name="AD22"/>
          <p:cNvSpPr txBox="1"/>
          <p:nvPr/>
        </p:nvSpPr>
        <p:spPr>
          <a:xfrm>
            <a:off x="3410000" y="953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{{GRP_DC_WPP_3}}</a:t>
            </a:r>
          </a:p>
        </p:txBody>
      </p:sp>
      <p:sp>
        <p:nvSpPr>
          <p:cNvPr id="598" name="AB22"/>
          <p:cNvSpPr txBox="1"/>
          <p:nvPr/>
        </p:nvSpPr>
        <p:spPr>
          <a:xfrm>
            <a:off x="4230000" y="953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A02828"/>
                </a:solidFill>
                <a:latin typeface="Calibri"/>
              </a:rPr>
              <a:t>{{GRP_NBB_WPP_3}}</a:t>
            </a:r>
          </a:p>
        </p:txBody>
      </p:sp>
      <p:sp>
        <p:nvSpPr>
          <p:cNvPr id="599" name="AWm22"/>
          <p:cNvSpPr txBox="1"/>
          <p:nvPr/>
        </p:nvSpPr>
        <p:spPr>
          <a:xfrm>
            <a:off x="5330000" y="953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{{GRP_WIN_WPP_3}}</a:t>
            </a:r>
          </a:p>
        </p:txBody>
      </p:sp>
      <p:sp>
        <p:nvSpPr>
          <p:cNvPr id="600" name="ADm22"/>
          <p:cNvSpPr txBox="1"/>
          <p:nvPr/>
        </p:nvSpPr>
        <p:spPr>
          <a:xfrm>
            <a:off x="6250000" y="953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{{GRP_DEP_WPP_3}}</a:t>
            </a:r>
          </a:p>
        </p:txBody>
      </p:sp>
      <p:sp>
        <p:nvSpPr>
          <p:cNvPr id="601" name="Note"/>
          <p:cNvSpPr txBox="1"/>
          <p:nvPr/>
        </p:nvSpPr>
        <p:spPr>
          <a:xfrm>
            <a:off x="280000" y="9910000"/>
            <a:ext cx="6999675" cy="2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9AAFAB"/>
                </a:solidFill>
                <a:latin typeface="Calibri"/>
              </a:rPr>
              <a:t>Retentions / renewals / transfers not included in NBB  ·  By decreasing NBB balance</a:t>
            </a:r>
          </a:p>
        </p:txBody>
      </p:sp>
      <p:sp>
        <p:nvSpPr>
          <p:cNvPr id="614" name="Rectangle : coins arrondis 613">
            <a:hlinkClick r:id="rId2" action="ppaction://hlinksldjump"/>
            <a:extLst>
              <a:ext uri="{FF2B5EF4-FFF2-40B4-BE49-F238E27FC236}">
                <a16:creationId xmlns:a16="http://schemas.microsoft.com/office/drawing/2014/main" id="{8DFD5E24-91D1-DB1A-92C5-CCE9520D6D17}"/>
              </a:ext>
            </a:extLst>
          </p:cNvPr>
          <p:cNvSpPr/>
          <p:nvPr/>
        </p:nvSpPr>
        <p:spPr>
          <a:xfrm>
            <a:off x="6572720" y="29583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5" name="Rectangle : coins arrondis 614">
            <a:hlinkClick r:id="rId3" action="ppaction://hlinksldjump"/>
            <a:extLst>
              <a:ext uri="{FF2B5EF4-FFF2-40B4-BE49-F238E27FC236}">
                <a16:creationId xmlns:a16="http://schemas.microsoft.com/office/drawing/2014/main" id="{D685D465-7D9E-59CB-9484-1566D65F28B1}"/>
              </a:ext>
            </a:extLst>
          </p:cNvPr>
          <p:cNvSpPr/>
          <p:nvPr/>
        </p:nvSpPr>
        <p:spPr>
          <a:xfrm>
            <a:off x="5284791" y="29583"/>
            <a:ext cx="1074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6" name="Rectangle : coins arrondis 615">
            <a:hlinkClick r:id="rId4" action="ppaction://hlinksldjump"/>
            <a:extLst>
              <a:ext uri="{FF2B5EF4-FFF2-40B4-BE49-F238E27FC236}">
                <a16:creationId xmlns:a16="http://schemas.microsoft.com/office/drawing/2014/main" id="{8138AF67-701B-1BA3-172A-362C0ECD4F8A}"/>
              </a:ext>
            </a:extLst>
          </p:cNvPr>
          <p:cNvSpPr/>
          <p:nvPr/>
        </p:nvSpPr>
        <p:spPr>
          <a:xfrm>
            <a:off x="2791266" y="987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3" name="Rectangle : coins arrondis 612">
            <a:hlinkClick r:id="rId5" action="ppaction://hlinksldjump"/>
            <a:extLst>
              <a:ext uri="{FF2B5EF4-FFF2-40B4-BE49-F238E27FC236}">
                <a16:creationId xmlns:a16="http://schemas.microsoft.com/office/drawing/2014/main" id="{AF9788C3-3926-30F8-8032-9D3063663568}"/>
              </a:ext>
            </a:extLst>
          </p:cNvPr>
          <p:cNvSpPr/>
          <p:nvPr/>
        </p:nvSpPr>
        <p:spPr>
          <a:xfrm>
            <a:off x="1526883" y="1249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2" name="Rectangle : coins arrondis 611">
            <a:hlinkClick r:id="rId6" action="ppaction://hlinksldjump"/>
            <a:extLst>
              <a:ext uri="{FF2B5EF4-FFF2-40B4-BE49-F238E27FC236}">
                <a16:creationId xmlns:a16="http://schemas.microsoft.com/office/drawing/2014/main" id="{E9B9A3EA-7311-7258-2338-A9DAAF6B94AD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8615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503978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0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0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0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1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21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21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21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21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1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Retentions</a:t>
            </a:r>
          </a:p>
        </p:txBody>
      </p:sp>
      <p:sp>
        <p:nvSpPr>
          <p:cNvPr id="21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/>
          <p:cNvSpPr/>
          <p:nvPr/>
        </p:nvSpPr>
        <p:spPr>
          <a:xfrm>
            <a:off x="503978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2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3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14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15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16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17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8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Retentions</a:t>
            </a:r>
          </a:p>
        </p:txBody>
      </p:sp>
      <p:sp>
        <p:nvSpPr>
          <p:cNvPr id="19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0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graphicFrame>
        <p:nvGraphicFramePr>
          <p:cNvPr id="11" name="Graphique 10">
            <a:extLst>
              <a:ext uri="{FF2B5EF4-FFF2-40B4-BE49-F238E27FC236}">
                <a16:creationId xmlns:a16="http://schemas.microsoft.com/office/drawing/2014/main" id="{7BEAAF46-ED84-D331-AAB9-1229AD6D4C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0346458"/>
              </p:ext>
            </p:extLst>
          </p:nvPr>
        </p:nvGraphicFramePr>
        <p:xfrm>
          <a:off x="280000" y="960000"/>
          <a:ext cx="6999675" cy="39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00" name="Title"/>
          <p:cNvSpPr txBox="1"/>
          <p:nvPr/>
        </p:nvSpPr>
        <p:spPr>
          <a:xfrm>
            <a:off x="280000" y="420000"/>
            <a:ext cx="699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200" b="1" dirty="0">
                <a:solidFill>
                  <a:srgbClr val="1F2D2A"/>
                </a:solidFill>
                <a:latin typeface="Calibri"/>
              </a:rPr>
              <a:t>NBB 2025 retentions ranking</a:t>
            </a:r>
            <a:r>
              <a:rPr lang="en-US" sz="2200" b="0" dirty="0">
                <a:solidFill>
                  <a:srgbClr val="7FA89E"/>
                </a:solidFill>
                <a:latin typeface="Calibri"/>
              </a:rPr>
              <a:t>  ·  Sep.24 – Sep.25</a:t>
            </a:r>
          </a:p>
        </p:txBody>
      </p:sp>
      <p:sp>
        <p:nvSpPr>
          <p:cNvPr id="501" name="Sub"/>
          <p:cNvSpPr txBox="1"/>
          <p:nvPr/>
        </p:nvSpPr>
        <p:spPr>
          <a:xfrm>
            <a:off x="280000" y="745000"/>
            <a:ext cx="6999675" cy="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Retentions &amp; contract renewals not included in the NBB calculation  ·  By decreasing retention balance</a:t>
            </a:r>
          </a:p>
        </p:txBody>
      </p:sp>
      <p:sp>
        <p:nvSpPr>
          <p:cNvPr id="502" name="TblBg"/>
          <p:cNvSpPr/>
          <p:nvPr/>
        </p:nvSpPr>
        <p:spPr>
          <a:xfrm>
            <a:off x="280000" y="4960000"/>
            <a:ext cx="6999675" cy="287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E0DC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03" name="HdrBg"/>
          <p:cNvSpPr/>
          <p:nvPr/>
        </p:nvSpPr>
        <p:spPr>
          <a:xfrm>
            <a:off x="280000" y="4960000"/>
            <a:ext cx="6999675" cy="390000"/>
          </a:xfrm>
          <a:prstGeom prst="roundRect">
            <a:avLst>
              <a:gd name="adj" fmla="val 3000"/>
            </a:avLst>
          </a:prstGeom>
          <a:solidFill>
            <a:srgbClr val="2A3D3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4" name="Hdr0"/>
          <p:cNvSpPr txBox="1"/>
          <p:nvPr/>
        </p:nvSpPr>
        <p:spPr>
          <a:xfrm>
            <a:off x="280000" y="4960000"/>
            <a:ext cx="1900000" cy="39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AGENCE</a:t>
            </a:r>
          </a:p>
        </p:txBody>
      </p:sp>
      <p:sp>
        <p:nvSpPr>
          <p:cNvPr id="505" name="Hdr1"/>
          <p:cNvSpPr txBox="1"/>
          <p:nvPr/>
        </p:nvSpPr>
        <p:spPr>
          <a:xfrm>
            <a:off x="2180000" y="4960000"/>
            <a:ext cx="850000" cy="39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BALANCE ($M)</a:t>
            </a:r>
          </a:p>
        </p:txBody>
      </p:sp>
      <p:sp>
        <p:nvSpPr>
          <p:cNvPr id="506" name="Hdr2"/>
          <p:cNvSpPr txBox="1"/>
          <p:nvPr/>
        </p:nvSpPr>
        <p:spPr>
          <a:xfrm>
            <a:off x="3030000" y="4960000"/>
            <a:ext cx="2100000" cy="39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PRINCIPAL COMPTE RETENU</a:t>
            </a:r>
          </a:p>
        </p:txBody>
      </p:sp>
      <p:sp>
        <p:nvSpPr>
          <p:cNvPr id="507" name="Hdr3"/>
          <p:cNvSpPr txBox="1"/>
          <p:nvPr/>
        </p:nvSpPr>
        <p:spPr>
          <a:xfrm>
            <a:off x="5130000" y="4960000"/>
            <a:ext cx="2249675" cy="39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NOTE</a:t>
            </a:r>
          </a:p>
        </p:txBody>
      </p:sp>
      <p:sp>
        <p:nvSpPr>
          <p:cNvPr id="508" name="RBg0"/>
          <p:cNvSpPr/>
          <p:nvPr/>
        </p:nvSpPr>
        <p:spPr>
          <a:xfrm>
            <a:off x="280000" y="5350000"/>
            <a:ext cx="6999675" cy="41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9" name="RSep0"/>
          <p:cNvSpPr/>
          <p:nvPr/>
        </p:nvSpPr>
        <p:spPr>
          <a:xfrm>
            <a:off x="280000" y="5754000"/>
            <a:ext cx="6999675" cy="6000"/>
          </a:xfrm>
          <a:prstGeom prst="rect">
            <a:avLst/>
          </a:prstGeom>
          <a:solidFill>
            <a:srgbClr val="E8DED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0" name="Str0"/>
          <p:cNvSpPr/>
          <p:nvPr/>
        </p:nvSpPr>
        <p:spPr>
          <a:xfrm>
            <a:off x="280000" y="5350000"/>
            <a:ext cx="18000" cy="410000"/>
          </a:xfrm>
          <a:prstGeom prst="rect">
            <a:avLst/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1" name="AN0"/>
          <p:cNvSpPr txBox="1"/>
          <p:nvPr/>
        </p:nvSpPr>
        <p:spPr>
          <a:xfrm>
            <a:off x="280000" y="535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{{RET_AG_1}}</a:t>
            </a:r>
          </a:p>
        </p:txBody>
      </p:sp>
      <p:sp>
        <p:nvSpPr>
          <p:cNvPr id="512" name="AB0"/>
          <p:cNvSpPr txBox="1"/>
          <p:nvPr/>
        </p:nvSpPr>
        <p:spPr>
          <a:xfrm>
            <a:off x="2180000" y="535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{{RET_BAL_1}}</a:t>
            </a:r>
          </a:p>
        </p:txBody>
      </p:sp>
      <p:sp>
        <p:nvSpPr>
          <p:cNvPr id="513" name="AC0"/>
          <p:cNvSpPr txBox="1"/>
          <p:nvPr/>
        </p:nvSpPr>
        <p:spPr>
          <a:xfrm>
            <a:off x="3030000" y="535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{{RET_TOP_1}}</a:t>
            </a:r>
          </a:p>
        </p:txBody>
      </p:sp>
      <p:sp>
        <p:nvSpPr>
          <p:cNvPr id="514" name="AN20"/>
          <p:cNvSpPr txBox="1"/>
          <p:nvPr/>
        </p:nvSpPr>
        <p:spPr>
          <a:xfrm>
            <a:off x="5130000" y="535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515" name="RBg1"/>
          <p:cNvSpPr/>
          <p:nvPr/>
        </p:nvSpPr>
        <p:spPr>
          <a:xfrm>
            <a:off x="280000" y="5760000"/>
            <a:ext cx="6999675" cy="4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6" name="RSep1"/>
          <p:cNvSpPr/>
          <p:nvPr/>
        </p:nvSpPr>
        <p:spPr>
          <a:xfrm>
            <a:off x="280000" y="6164000"/>
            <a:ext cx="6999675" cy="600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7" name="Str1"/>
          <p:cNvSpPr/>
          <p:nvPr/>
        </p:nvSpPr>
        <p:spPr>
          <a:xfrm>
            <a:off x="280000" y="5760000"/>
            <a:ext cx="18000" cy="410000"/>
          </a:xfrm>
          <a:prstGeom prst="rect">
            <a:avLst/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8" name="AN1"/>
          <p:cNvSpPr txBox="1"/>
          <p:nvPr/>
        </p:nvSpPr>
        <p:spPr>
          <a:xfrm>
            <a:off x="280000" y="576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{{RET_AG_2}}</a:t>
            </a:r>
          </a:p>
        </p:txBody>
      </p:sp>
      <p:sp>
        <p:nvSpPr>
          <p:cNvPr id="519" name="AB1"/>
          <p:cNvSpPr txBox="1"/>
          <p:nvPr/>
        </p:nvSpPr>
        <p:spPr>
          <a:xfrm>
            <a:off x="2180000" y="576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{{RET_BAL_2}}</a:t>
            </a:r>
          </a:p>
        </p:txBody>
      </p:sp>
      <p:sp>
        <p:nvSpPr>
          <p:cNvPr id="520" name="AC1"/>
          <p:cNvSpPr txBox="1"/>
          <p:nvPr/>
        </p:nvSpPr>
        <p:spPr>
          <a:xfrm>
            <a:off x="3030000" y="576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{{RET_TOP_2}}</a:t>
            </a:r>
          </a:p>
        </p:txBody>
      </p:sp>
      <p:sp>
        <p:nvSpPr>
          <p:cNvPr id="521" name="AN21"/>
          <p:cNvSpPr txBox="1"/>
          <p:nvPr/>
        </p:nvSpPr>
        <p:spPr>
          <a:xfrm>
            <a:off x="5130000" y="576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522" name="RBg2"/>
          <p:cNvSpPr/>
          <p:nvPr/>
        </p:nvSpPr>
        <p:spPr>
          <a:xfrm>
            <a:off x="280000" y="6170000"/>
            <a:ext cx="6999675" cy="4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3" name="RSep2"/>
          <p:cNvSpPr/>
          <p:nvPr/>
        </p:nvSpPr>
        <p:spPr>
          <a:xfrm>
            <a:off x="280000" y="6574000"/>
            <a:ext cx="6999675" cy="6000"/>
          </a:xfrm>
          <a:prstGeom prst="rect">
            <a:avLst/>
          </a:prstGeom>
          <a:solidFill>
            <a:srgbClr val="E8DED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4" name="Str2"/>
          <p:cNvSpPr/>
          <p:nvPr/>
        </p:nvSpPr>
        <p:spPr>
          <a:xfrm>
            <a:off x="280000" y="6170000"/>
            <a:ext cx="18000" cy="410000"/>
          </a:xfrm>
          <a:prstGeom prst="rect">
            <a:avLst/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5" name="AN2"/>
          <p:cNvSpPr txBox="1"/>
          <p:nvPr/>
        </p:nvSpPr>
        <p:spPr>
          <a:xfrm>
            <a:off x="280000" y="617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{{RET_AG_3}}</a:t>
            </a:r>
          </a:p>
        </p:txBody>
      </p:sp>
      <p:sp>
        <p:nvSpPr>
          <p:cNvPr id="526" name="AB2"/>
          <p:cNvSpPr txBox="1"/>
          <p:nvPr/>
        </p:nvSpPr>
        <p:spPr>
          <a:xfrm>
            <a:off x="2180000" y="617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{{RET_BAL_3}}</a:t>
            </a:r>
          </a:p>
        </p:txBody>
      </p:sp>
      <p:sp>
        <p:nvSpPr>
          <p:cNvPr id="527" name="AC2"/>
          <p:cNvSpPr txBox="1"/>
          <p:nvPr/>
        </p:nvSpPr>
        <p:spPr>
          <a:xfrm>
            <a:off x="3030000" y="617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{{RET_TOP_3}}</a:t>
            </a:r>
          </a:p>
        </p:txBody>
      </p:sp>
      <p:sp>
        <p:nvSpPr>
          <p:cNvPr id="528" name="AN22"/>
          <p:cNvSpPr txBox="1"/>
          <p:nvPr/>
        </p:nvSpPr>
        <p:spPr>
          <a:xfrm>
            <a:off x="5130000" y="617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529" name="RBg3"/>
          <p:cNvSpPr/>
          <p:nvPr/>
        </p:nvSpPr>
        <p:spPr>
          <a:xfrm>
            <a:off x="280000" y="6580000"/>
            <a:ext cx="6999675" cy="4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0" name="RSep3"/>
          <p:cNvSpPr/>
          <p:nvPr/>
        </p:nvSpPr>
        <p:spPr>
          <a:xfrm>
            <a:off x="280000" y="6984000"/>
            <a:ext cx="6999675" cy="600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1" name="Str3"/>
          <p:cNvSpPr/>
          <p:nvPr/>
        </p:nvSpPr>
        <p:spPr>
          <a:xfrm>
            <a:off x="280000" y="6580000"/>
            <a:ext cx="18000" cy="410000"/>
          </a:xfrm>
          <a:prstGeom prst="rect">
            <a:avLst/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2" name="AN3"/>
          <p:cNvSpPr txBox="1"/>
          <p:nvPr/>
        </p:nvSpPr>
        <p:spPr>
          <a:xfrm>
            <a:off x="280000" y="658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{{RET_AG_4}}</a:t>
            </a:r>
          </a:p>
        </p:txBody>
      </p:sp>
      <p:sp>
        <p:nvSpPr>
          <p:cNvPr id="533" name="AB3"/>
          <p:cNvSpPr txBox="1"/>
          <p:nvPr/>
        </p:nvSpPr>
        <p:spPr>
          <a:xfrm>
            <a:off x="2180000" y="658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{{RET_BAL_4}}</a:t>
            </a:r>
          </a:p>
        </p:txBody>
      </p:sp>
      <p:sp>
        <p:nvSpPr>
          <p:cNvPr id="534" name="AC3"/>
          <p:cNvSpPr txBox="1"/>
          <p:nvPr/>
        </p:nvSpPr>
        <p:spPr>
          <a:xfrm>
            <a:off x="3030000" y="658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{{RET_TOP_4}}</a:t>
            </a:r>
          </a:p>
        </p:txBody>
      </p:sp>
      <p:sp>
        <p:nvSpPr>
          <p:cNvPr id="535" name="AN23"/>
          <p:cNvSpPr txBox="1"/>
          <p:nvPr/>
        </p:nvSpPr>
        <p:spPr>
          <a:xfrm>
            <a:off x="5130000" y="658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536" name="RBg4"/>
          <p:cNvSpPr/>
          <p:nvPr/>
        </p:nvSpPr>
        <p:spPr>
          <a:xfrm>
            <a:off x="280000" y="6990000"/>
            <a:ext cx="6999675" cy="4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7" name="RSep4"/>
          <p:cNvSpPr/>
          <p:nvPr/>
        </p:nvSpPr>
        <p:spPr>
          <a:xfrm>
            <a:off x="280000" y="7394000"/>
            <a:ext cx="6999675" cy="6000"/>
          </a:xfrm>
          <a:prstGeom prst="rect">
            <a:avLst/>
          </a:prstGeom>
          <a:solidFill>
            <a:srgbClr val="E8DED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8" name="Str4"/>
          <p:cNvSpPr/>
          <p:nvPr/>
        </p:nvSpPr>
        <p:spPr>
          <a:xfrm>
            <a:off x="280000" y="6990000"/>
            <a:ext cx="18000" cy="410000"/>
          </a:xfrm>
          <a:prstGeom prst="rect">
            <a:avLst/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9" name="AN4"/>
          <p:cNvSpPr txBox="1"/>
          <p:nvPr/>
        </p:nvSpPr>
        <p:spPr>
          <a:xfrm>
            <a:off x="280000" y="699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{{RET_AG_5}}</a:t>
            </a:r>
          </a:p>
        </p:txBody>
      </p:sp>
      <p:sp>
        <p:nvSpPr>
          <p:cNvPr id="540" name="AB4"/>
          <p:cNvSpPr txBox="1"/>
          <p:nvPr/>
        </p:nvSpPr>
        <p:spPr>
          <a:xfrm>
            <a:off x="2180000" y="699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{{RET_BAL_5}}</a:t>
            </a:r>
          </a:p>
        </p:txBody>
      </p:sp>
      <p:sp>
        <p:nvSpPr>
          <p:cNvPr id="541" name="AC4"/>
          <p:cNvSpPr txBox="1"/>
          <p:nvPr/>
        </p:nvSpPr>
        <p:spPr>
          <a:xfrm>
            <a:off x="3030000" y="699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{{RET_TOP_5}}</a:t>
            </a:r>
          </a:p>
        </p:txBody>
      </p:sp>
      <p:sp>
        <p:nvSpPr>
          <p:cNvPr id="542" name="AN24"/>
          <p:cNvSpPr txBox="1"/>
          <p:nvPr/>
        </p:nvSpPr>
        <p:spPr>
          <a:xfrm>
            <a:off x="5130000" y="699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543" name="RBg5"/>
          <p:cNvSpPr/>
          <p:nvPr/>
        </p:nvSpPr>
        <p:spPr>
          <a:xfrm>
            <a:off x="280000" y="7400000"/>
            <a:ext cx="6999675" cy="4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4" name="RSep5"/>
          <p:cNvSpPr/>
          <p:nvPr/>
        </p:nvSpPr>
        <p:spPr>
          <a:xfrm>
            <a:off x="280000" y="7804000"/>
            <a:ext cx="6999675" cy="600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5" name="Str5"/>
          <p:cNvSpPr/>
          <p:nvPr/>
        </p:nvSpPr>
        <p:spPr>
          <a:xfrm>
            <a:off x="280000" y="7400000"/>
            <a:ext cx="18000" cy="410000"/>
          </a:xfrm>
          <a:prstGeom prst="rect">
            <a:avLst/>
          </a:prstGeom>
          <a:solidFill>
            <a:srgbClr val="6E30B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6" name="AN5"/>
          <p:cNvSpPr txBox="1"/>
          <p:nvPr/>
        </p:nvSpPr>
        <p:spPr>
          <a:xfrm>
            <a:off x="280000" y="740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{{RET_AG_6}}</a:t>
            </a:r>
          </a:p>
        </p:txBody>
      </p:sp>
      <p:sp>
        <p:nvSpPr>
          <p:cNvPr id="547" name="AB5"/>
          <p:cNvSpPr txBox="1"/>
          <p:nvPr/>
        </p:nvSpPr>
        <p:spPr>
          <a:xfrm>
            <a:off x="2180000" y="740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{{RET_BAL_6}}</a:t>
            </a:r>
          </a:p>
        </p:txBody>
      </p:sp>
      <p:sp>
        <p:nvSpPr>
          <p:cNvPr id="548" name="AC5"/>
          <p:cNvSpPr txBox="1"/>
          <p:nvPr/>
        </p:nvSpPr>
        <p:spPr>
          <a:xfrm>
            <a:off x="3030000" y="740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{{RET_TOP_6}}</a:t>
            </a:r>
          </a:p>
        </p:txBody>
      </p:sp>
      <p:sp>
        <p:nvSpPr>
          <p:cNvPr id="549" name="AN25"/>
          <p:cNvSpPr txBox="1"/>
          <p:nvPr/>
        </p:nvSpPr>
        <p:spPr>
          <a:xfrm>
            <a:off x="5130000" y="740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550" name="NoteBottom"/>
          <p:cNvSpPr txBox="1"/>
          <p:nvPr/>
        </p:nvSpPr>
        <p:spPr>
          <a:xfrm>
            <a:off x="280000" y="7880000"/>
            <a:ext cx="6999675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23" name="Rectangle : coins arrondis 22">
            <a:hlinkClick r:id="rId3" action="ppaction://hlinksldjump"/>
            <a:extLst>
              <a:ext uri="{FF2B5EF4-FFF2-40B4-BE49-F238E27FC236}">
                <a16:creationId xmlns:a16="http://schemas.microsoft.com/office/drawing/2014/main" id="{A98FEDD4-F71B-3C93-FD7E-153A6A00CDB4}"/>
              </a:ext>
            </a:extLst>
          </p:cNvPr>
          <p:cNvSpPr/>
          <p:nvPr/>
        </p:nvSpPr>
        <p:spPr>
          <a:xfrm>
            <a:off x="6572720" y="23607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 : coins arrondis 24">
            <a:hlinkClick r:id="rId4" action="ppaction://hlinksldjump"/>
            <a:extLst>
              <a:ext uri="{FF2B5EF4-FFF2-40B4-BE49-F238E27FC236}">
                <a16:creationId xmlns:a16="http://schemas.microsoft.com/office/drawing/2014/main" id="{D0EE200B-D663-913B-D342-4E70A42AF585}"/>
              </a:ext>
            </a:extLst>
          </p:cNvPr>
          <p:cNvSpPr/>
          <p:nvPr/>
        </p:nvSpPr>
        <p:spPr>
          <a:xfrm>
            <a:off x="4043709" y="30000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 : coins arrondis 23">
            <a:hlinkClick r:id="rId5" action="ppaction://hlinksldjump"/>
            <a:extLst>
              <a:ext uri="{FF2B5EF4-FFF2-40B4-BE49-F238E27FC236}">
                <a16:creationId xmlns:a16="http://schemas.microsoft.com/office/drawing/2014/main" id="{2EBDDCC8-0C5C-5371-1EB9-EFAF342BA5D1}"/>
              </a:ext>
            </a:extLst>
          </p:cNvPr>
          <p:cNvSpPr/>
          <p:nvPr/>
        </p:nvSpPr>
        <p:spPr>
          <a:xfrm>
            <a:off x="2734889" y="31144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 : coins arrondis 21">
            <a:hlinkClick r:id="rId6" action="ppaction://hlinksldjump"/>
            <a:extLst>
              <a:ext uri="{FF2B5EF4-FFF2-40B4-BE49-F238E27FC236}">
                <a16:creationId xmlns:a16="http://schemas.microsoft.com/office/drawing/2014/main" id="{0D3DA547-524E-B3DC-FBE1-141457CDAFF0}"/>
              </a:ext>
            </a:extLst>
          </p:cNvPr>
          <p:cNvSpPr/>
          <p:nvPr/>
        </p:nvSpPr>
        <p:spPr>
          <a:xfrm>
            <a:off x="1526883" y="1249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 : coins arrondis 20">
            <a:hlinkClick r:id="rId7" action="ppaction://hlinksldjump"/>
            <a:extLst>
              <a:ext uri="{FF2B5EF4-FFF2-40B4-BE49-F238E27FC236}">
                <a16:creationId xmlns:a16="http://schemas.microsoft.com/office/drawing/2014/main" id="{8AAD12A7-2C91-EFBD-14A3-E7E9146C9CD2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136781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2C7A9EA-FACB-41BD-8931-B5EF34982686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96bff61-1132-46bc-9650-a95bc6f8891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3191</Words>
  <Application>Microsoft Office PowerPoint</Application>
  <PresentationFormat>Personnalisé</PresentationFormat>
  <Paragraphs>1151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Segoe UI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RECMA-NEWBIZ</dc:title>
  <dc:creator>Pierre-Louis</dc:creator>
  <cp:lastModifiedBy>Pierre-Louis LEBRUN</cp:lastModifiedBy>
  <cp:revision>1294</cp:revision>
  <cp:lastPrinted>2022-11-28T18:43:31Z</cp:lastPrinted>
  <dcterms:created xsi:type="dcterms:W3CDTF">2018-01-08T14:36:25Z</dcterms:created>
  <dcterms:modified xsi:type="dcterms:W3CDTF">2026-04-21T09:56:41Z</dcterms:modified>
</cp:coreProperties>
</file>